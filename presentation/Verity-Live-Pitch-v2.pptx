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9ed4ba3afc42b0" /><Relationship Type="http://schemas.openxmlformats.org/officeDocument/2006/relationships/extended-properties" Target="/docProps/app.xml" Id="Radcecce966a24e97" /><Relationship Type="http://schemas.openxmlformats.org/officeDocument/2006/relationships/officeDocument" Target="/ppt/presentation.xml" Id="Rad20b2b1ea904b75" /></Relationships>
</file>

<file path=ppt/presentation.xml><?xml version="1.0" encoding="utf-8"?>
<p:presentation xmlns:p="http://schemas.openxmlformats.org/presentationml/2006/main">
  <p:sldMasterIdLst>
    <p:sldMasterId xmlns:r="http://schemas.openxmlformats.org/officeDocument/2006/relationships" id="2147483648" r:id="R98dde6786c2748ca"/>
  </p:sldMasterIdLst>
  <p:notesMasterIdLst>
    <p:notesMasterId xmlns:r="http://schemas.openxmlformats.org/officeDocument/2006/relationships" r:id="R5368174436e643fa"/>
  </p:notesMasterIdLst>
  <p:sldIdLst>
    <p:sldId xmlns:r="http://schemas.openxmlformats.org/officeDocument/2006/relationships" id="256" r:id="R6ae0674ace684861"/>
    <p:sldId xmlns:r="http://schemas.openxmlformats.org/officeDocument/2006/relationships" id="257" r:id="R8bd13bb91ab44a95"/>
    <p:sldId xmlns:r="http://schemas.openxmlformats.org/officeDocument/2006/relationships" id="258" r:id="Rf3eec64c950a4f9d"/>
    <p:sldId xmlns:r="http://schemas.openxmlformats.org/officeDocument/2006/relationships" id="259" r:id="R136c613c9d1f4326"/>
    <p:sldId xmlns:r="http://schemas.openxmlformats.org/officeDocument/2006/relationships" id="260" r:id="Rb8fbd358d7ee413a"/>
    <p:sldId xmlns:r="http://schemas.openxmlformats.org/officeDocument/2006/relationships" id="261" r:id="R3cf7866c1757466c"/>
    <p:sldId xmlns:r="http://schemas.openxmlformats.org/officeDocument/2006/relationships" id="262" r:id="R54f1a9d0b47c46d7"/>
    <p:sldId xmlns:r="http://schemas.openxmlformats.org/officeDocument/2006/relationships" id="263" r:id="R48c73e907f174b1c"/>
    <p:sldId xmlns:r="http://schemas.openxmlformats.org/officeDocument/2006/relationships" id="264" r:id="Rbf6edc040ac34f74"/>
    <p:sldId xmlns:r="http://schemas.openxmlformats.org/officeDocument/2006/relationships" id="265" r:id="Rcb77ffe1ff254d36"/>
    <p:sldId xmlns:r="http://schemas.openxmlformats.org/officeDocument/2006/relationships" id="266" r:id="Ra7961ab581844d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e395a6e21649ab" /><Relationship Type="http://schemas.openxmlformats.org/officeDocument/2006/relationships/slideMaster" Target="/ppt/slideMasters/slideMaster1.xml" Id="R98dde6786c2748ca" /><Relationship Type="http://schemas.openxmlformats.org/officeDocument/2006/relationships/notesMaster" Target="/ppt/notesMasters/notesMaster1.xml" Id="R5368174436e643fa" /><Relationship Type="http://schemas.openxmlformats.org/officeDocument/2006/relationships/presProps" Target="/ppt/presProps.xml" Id="R8cee78a02383494e" /><Relationship Type="http://schemas.openxmlformats.org/officeDocument/2006/relationships/tableStyles" Target="/ppt/tableStyles.xml" Id="Re2548f4356094d0e" /><Relationship Type="http://schemas.openxmlformats.org/officeDocument/2006/relationships/slide" Target="/ppt/slides/slide1.xml" Id="R6ae0674ace684861" /><Relationship Type="http://schemas.openxmlformats.org/officeDocument/2006/relationships/slide" Target="/ppt/slides/slide2.xml" Id="R8bd13bb91ab44a95" /><Relationship Type="http://schemas.openxmlformats.org/officeDocument/2006/relationships/slide" Target="/ppt/slides/slide3.xml" Id="Rf3eec64c950a4f9d" /><Relationship Type="http://schemas.openxmlformats.org/officeDocument/2006/relationships/slide" Target="/ppt/slides/slide4.xml" Id="R136c613c9d1f4326" /><Relationship Type="http://schemas.openxmlformats.org/officeDocument/2006/relationships/slide" Target="/ppt/slides/slide5.xml" Id="Rb8fbd358d7ee413a" /><Relationship Type="http://schemas.openxmlformats.org/officeDocument/2006/relationships/slide" Target="/ppt/slides/slide6.xml" Id="R3cf7866c1757466c" /><Relationship Type="http://schemas.openxmlformats.org/officeDocument/2006/relationships/slide" Target="/ppt/slides/slide7.xml" Id="R54f1a9d0b47c46d7" /><Relationship Type="http://schemas.openxmlformats.org/officeDocument/2006/relationships/slide" Target="/ppt/slides/slide8.xml" Id="R48c73e907f174b1c" /><Relationship Type="http://schemas.openxmlformats.org/officeDocument/2006/relationships/slide" Target="/ppt/slides/slide9.xml" Id="Rbf6edc040ac34f74" /><Relationship Type="http://schemas.openxmlformats.org/officeDocument/2006/relationships/slide" Target="/ppt/slides/slide10.xml" Id="Rcb77ffe1ff254d36" /><Relationship Type="http://schemas.openxmlformats.org/officeDocument/2006/relationships/slide" Target="/ppt/slides/slide11.xml" Id="Ra7961ab581844d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a65b5418a547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ee4d1854ce4862" /><Relationship Type="http://schemas.openxmlformats.org/officeDocument/2006/relationships/notesMaster" Target="/ppt/notesMasters/notesMaster1.xml" Id="R4576be28d3324a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b72d56ff5c4e51" /><Relationship Type="http://schemas.openxmlformats.org/officeDocument/2006/relationships/notesMaster" Target="/ppt/notesMasters/notesMaster1.xml" Id="R57948da3e5a743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3003f6205745e2" /><Relationship Type="http://schemas.openxmlformats.org/officeDocument/2006/relationships/notesMaster" Target="/ppt/notesMasters/notesMaster1.xml" Id="R92a477b8ce094e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217368c33c4f15" /><Relationship Type="http://schemas.openxmlformats.org/officeDocument/2006/relationships/notesMaster" Target="/ppt/notesMasters/notesMaster1.xml" Id="Ra6f1cb69998549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41c638861745bc" /><Relationship Type="http://schemas.openxmlformats.org/officeDocument/2006/relationships/notesMaster" Target="/ppt/notesMasters/notesMaster1.xml" Id="Rcc3ee848ac9e43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f728fff6804e0a" /><Relationship Type="http://schemas.openxmlformats.org/officeDocument/2006/relationships/notesMaster" Target="/ppt/notesMasters/notesMaster1.xml" Id="R545b2b88d8a94b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5f36f0af394ebb" /><Relationship Type="http://schemas.openxmlformats.org/officeDocument/2006/relationships/notesMaster" Target="/ppt/notesMasters/notesMaster1.xml" Id="R64eb44bc1ae1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b675c5975e4ea9" /><Relationship Type="http://schemas.openxmlformats.org/officeDocument/2006/relationships/notesMaster" Target="/ppt/notesMasters/notesMaster1.xml" Id="R2b48c4ad31bc43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7b687e2b6943c4" /><Relationship Type="http://schemas.openxmlformats.org/officeDocument/2006/relationships/notesMaster" Target="/ppt/notesMasters/notesMaster1.xml" Id="R604d635071d647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beb380aafb4575" /><Relationship Type="http://schemas.openxmlformats.org/officeDocument/2006/relationships/notesMaster" Target="/ppt/notesMasters/notesMaster1.xml" Id="Rc53d852a4ff149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4ff07361cc4486" /><Relationship Type="http://schemas.openxmlformats.org/officeDocument/2006/relationships/notesMaster" Target="/ppt/notesMasters/notesMaster1.xml" Id="R3efd3c50645746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Suggested time: 25 seconds</a:t>
            </a:r>
          </a:p>
          <a:p xmlns:a="http://schemas.openxmlformats.org/drawingml/2006/main">
            <a:r>
              <a:t/>
            </a:r>
          </a:p>
          <a:p xmlns:a="http://schemas.openxmlformats.org/drawingml/2006/main">
            <a:r>
              <a:t>SAY</a:t>
            </a:r>
          </a:p>
          <a:p xmlns:a="http://schemas.openxmlformats.org/drawingml/2006/main">
            <a:r>
              <a:t>A correct final answer can still hide a gap in reasoning. We're building Verity to help students find those gaps before they hand their work in. Instructors set the expectations. Students get a focused hint, and TAs can inspect the evidence behind an assessment. Our question is whether we can specialize Nemotron for that job.</a:t>
            </a:r>
          </a:p>
          <a:p xmlns:a="http://schemas.openxmlformats.org/drawingml/2006/main">
            <a:r>
              <a:t/>
            </a:r>
          </a:p>
          <a:p xmlns:a="http://schemas.openxmlformats.org/drawingml/2006/main">
            <a:r>
              <a:t>LIVE CUE</a:t>
            </a:r>
          </a:p>
          <a:p xmlns:a="http://schemas.openxmlformats.org/drawingml/2006/main">
            <a:r>
              <a:t>Presenter A opens. Presenter B has the app ready in a separate tab. This wording describes the project goal, not a measured learning outcome.</a:t>
            </a:r>
          </a:p>
          <a:p xmlns:a="http://schemas.openxmlformats.org/drawingml/2006/main">
            <a:r>
              <a:t/>
            </a:r>
          </a:p>
          <a:p xmlns:a="http://schemas.openxmlformats.org/drawingml/2006/main">
            <a:r>
              <a:t>SOURCES</a:t>
            </a:r>
          </a:p>
          <a:p xmlns:a="http://schemas.openxmlformats.org/drawingml/2006/main">
            <a:r>
              <a:t>https://steelhacks.org/tracks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model and research question</a:t>
            </a:r>
          </a:p>
          <a:p xmlns:a="http://schemas.openxmlformats.org/drawingml/2006/main">
            <a:r>
              <a:t>Suggested time: 30 seconds</a:t>
            </a:r>
          </a:p>
          <a:p xmlns:a="http://schemas.openxmlformats.org/drawingml/2006/main">
            <a:r>
              <a:t/>
            </a:r>
          </a:p>
          <a:p xmlns:a="http://schemas.openxmlformats.org/drawingml/2006/main">
            <a:r>
              <a:t>SAY</a:t>
            </a:r>
          </a:p>
          <a:p xmlns:a="http://schemas.openxmlformats.org/drawingml/2006/main">
            <a:r>
              <a:t>Our current candidate is Nemotron 3 Nano 4B. NVIDIA provides the pretrained model and supports LoRA fine-tuning. It takes text, so document reading sits outside this model. General reasoning benchmarks don't tell us how it handles a particular course rubric. We need to test rubric compliance, valid alternative methods, and whether student feedback reveals too much.</a:t>
            </a:r>
          </a:p>
          <a:p xmlns:a="http://schemas.openxmlformats.org/drawingml/2006/main">
            <a:r>
              <a:t/>
            </a:r>
          </a:p>
          <a:p xmlns:a="http://schemas.openxmlformats.org/drawingml/2006/main">
            <a:r>
              <a:t>LIVE CUE</a:t>
            </a:r>
          </a:p>
          <a:p xmlns:a="http://schemas.openxmlformats.org/drawingml/2006/main">
            <a:r>
              <a:t>Keep the candidate label until the deployed checkpoint is confirmed. Do not describe these possible failure modes as observed baseline errors.</a:t>
            </a:r>
          </a:p>
          <a:p xmlns:a="http://schemas.openxmlformats.org/drawingml/2006/main">
            <a:r>
              <a:t/>
            </a:r>
          </a:p>
          <a:p xmlns:a="http://schemas.openxmlformats.org/drawingml/2006/main">
            <a:r>
              <a:t>SOURCES</a:t>
            </a:r>
          </a:p>
          <a:p xmlns:a="http://schemas.openxmlformats.org/drawingml/2006/main">
            <a:r>
              <a:t>https://huggingface.co/nvidia/NVIDIA-Nemotron-3-Nano-4B-BF16</a:t>
            </a:r>
          </a:p>
          <a:p xmlns:a="http://schemas.openxmlformats.org/drawingml/2006/main">
            <a:r>
              <a:t>https://docs.nvidia.com/nemo/megatron-bridge/nightly/models/nemotron/nemotron3-nano-4b.html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design</a:t>
            </a:r>
          </a:p>
          <a:p xmlns:a="http://schemas.openxmlformats.org/drawingml/2006/main">
            <a:r>
              <a:t>Suggested time: 35 seconds</a:t>
            </a:r>
          </a:p>
          <a:p xmlns:a="http://schemas.openxmlformats.org/drawingml/2006/main">
            <a:r>
              <a:t/>
            </a:r>
          </a:p>
          <a:p xmlns:a="http://schemas.openxmlformats.org/drawingml/2006/main">
            <a:r>
              <a:t>SAY</a:t>
            </a:r>
          </a:p>
          <a:p xmlns:a="http://schemas.openxmlformats.org/drawingml/2006/main">
            <a:r>
              <a:t>These are fictional examples we prepared. The first two contain exactly the same student answer. Under a rubric that requires a derivation, justification is missing. Under an answer-only rubric, the answer meets the requirements. The third uses a different valid method. These pairs let us test whether the model follows the rubric instead of simply matching the instructor's solution.</a:t>
            </a:r>
          </a:p>
          <a:p xmlns:a="http://schemas.openxmlformats.org/drawingml/2006/main">
            <a:r>
              <a:t/>
            </a:r>
          </a:p>
          <a:p xmlns:a="http://schemas.openxmlformats.org/drawingml/2006/main">
            <a:r>
              <a:t>LIVE CUE</a:t>
            </a:r>
          </a:p>
          <a:p xmlns:a="http://schemas.openxmlformats.org/drawingml/2006/main">
            <a:r>
              <a:t>Point to the identical first two answers, then to the changed rubric. These examples are reserved for illustration and must stay outside the scored benchmark. Labels have not been adjudicated by an instructor.</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method and system contributions</a:t>
            </a:r>
          </a:p>
          <a:p xmlns:a="http://schemas.openxmlformats.org/drawingml/2006/main">
            <a:r>
              <a:t>Suggested time: 35 seconds</a:t>
            </a:r>
          </a:p>
          <a:p xmlns:a="http://schemas.openxmlformats.org/drawingml/2006/main">
            <a:r>
              <a:t/>
            </a:r>
          </a:p>
          <a:p xmlns:a="http://schemas.openxmlformats.org/drawingml/2006/main">
            <a:r>
              <a:t>SAY</a:t>
            </a:r>
          </a:p>
          <a:p xmlns:a="http://schemas.openxmlformats.org/drawingml/2006/main">
            <a:r>
              <a:t>Our training target is criterion-level assessment. Each example pairs a question, rubric and student attempt with a reviewed decision. LoRA keeps the base weights fixed and trains a small adapter. We still supply the current assignment's rubric at runtime. Separately, the backend checks scores and evidence references, and limits what students see. We evaluate those software controls separately from the model change.</a:t>
            </a:r>
          </a:p>
          <a:p xmlns:a="http://schemas.openxmlformats.org/drawingml/2006/main">
            <a:r>
              <a:t/>
            </a:r>
          </a:p>
          <a:p xmlns:a="http://schemas.openxmlformats.org/drawingml/2006/main">
            <a:r>
              <a:t>LIVE CUE</a:t>
            </a:r>
          </a:p>
          <a:p xmlns:a="http://schemas.openxmlformats.org/drawingml/2006/main">
            <a:r>
              <a:t>This is the exact present-tense research-plan script. Once verified, use the completed-training replacement in PITCH.md and change the slide status. Do not say backend controls are learned model behavior.</a:t>
            </a:r>
          </a:p>
          <a:p xmlns:a="http://schemas.openxmlformats.org/drawingml/2006/main">
            <a:r>
              <a:t/>
            </a:r>
          </a:p>
          <a:p xmlns:a="http://schemas.openxmlformats.org/drawingml/2006/main">
            <a:r>
              <a:t>SOURCES</a:t>
            </a:r>
          </a:p>
          <a:p xmlns:a="http://schemas.openxmlformats.org/drawingml/2006/main">
            <a:r>
              <a:t>https://docs.nvidia.com/nemotron/nightly/train-models/explanation/basics.html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a:t>
            </a:r>
          </a:p>
          <a:p xmlns:a="http://schemas.openxmlformats.org/drawingml/2006/main">
            <a:r>
              <a:t>Suggested time: 90 seconds</a:t>
            </a:r>
          </a:p>
          <a:p xmlns:a="http://schemas.openxmlformats.org/drawingml/2006/main">
            <a:r>
              <a:t/>
            </a:r>
          </a:p>
          <a:p xmlns:a="http://schemas.openxmlformats.org/drawingml/2006/main">
            <a:r>
              <a:t>SAY</a:t>
            </a:r>
          </a:p>
          <a:p xmlns:a="http://schemas.openxmlformats.org/drawingml/2006/main">
            <a:r>
              <a:t>Here's the instructor's rubric. It requires a valid derivation as well as the final values. This fictional student wrote the correct values but omitted the derivation. I'm submitting it now. The expected flag is missing justification.</a:t>
            </a:r>
          </a:p>
          <a:p xmlns:a="http://schemas.openxmlformats.org/drawingml/2006/main">
            <a:r>
              <a:t/>
            </a:r>
          </a:p>
          <a:p xmlns:a="http://schemas.openxmlformats.org/drawingml/2006/main">
            <a:r>
              <a:t>[If the expected flag appears] The feedback points to what's missing without filling in the solution. Now I'll submit the student's completed revision.</a:t>
            </a:r>
          </a:p>
          <a:p xmlns:a="http://schemas.openxmlformats.org/drawingml/2006/main">
            <a:r>
              <a:t/>
            </a:r>
          </a:p>
          <a:p xmlns:a="http://schemas.openxmlformats.org/drawingml/2006/main">
            <a:r>
              <a:t>[After opening TA review] The TA can inspect the original work beside the criterion and make the final decision.</a:t>
            </a:r>
          </a:p>
          <a:p xmlns:a="http://schemas.openxmlformats.org/drawingml/2006/main">
            <a:r>
              <a:t/>
            </a:r>
          </a:p>
          <a:p xmlns:a="http://schemas.openxmlformats.org/drawingml/2006/main">
            <a:r>
              <a:t>[If time permits] This other attempt uses substitution. It should pass because the rubric allows any valid method.</a:t>
            </a:r>
          </a:p>
          <a:p xmlns:a="http://schemas.openxmlformats.org/drawingml/2006/main">
            <a:r>
              <a:t/>
            </a:r>
          </a:p>
          <a:p xmlns:a="http://schemas.openxmlformats.org/drawingml/2006/main">
            <a:r>
              <a:t>LIVE CUE</a:t>
            </a:r>
          </a:p>
          <a:p xmlns:a="http://schemas.openxmlformats.org/drawingml/2006/main">
            <a:r>
              <a:t>Switch to the actual app. Use examples D01, D03 and D04. A narrates, B drives. Read actual output before describing it. If processing exceeds 15 seconds, say: "The live request is still processing. We can inspect the rubric and source work while it completes." If it fails, use the exact failure line in PITCH.md. Never substitute a target label for a returned model result.</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a:t>
            </a:r>
          </a:p>
          <a:p xmlns:a="http://schemas.openxmlformats.org/drawingml/2006/main">
            <a:r>
              <a:t>Suggested time: 35 seconds</a:t>
            </a:r>
          </a:p>
          <a:p xmlns:a="http://schemas.openxmlformats.org/drawingml/2006/main">
            <a:r>
              <a:t/>
            </a:r>
          </a:p>
          <a:p xmlns:a="http://schemas.openxmlformats.org/drawingml/2006/main">
            <a:r>
              <a:t>SAY</a:t>
            </a:r>
          </a:p>
          <a:p xmlns:a="http://schemas.openxmlformats.org/drawingml/2006/main">
            <a:r>
              <a:t>Here's the comparison we need before claiming an improvement. Both versions receive the same work and rubric. We hold out entire problem families so variants don't leak into the test set. We measure correct rubric decisions, false flags on valid work, missed errors, and answer leakage. Those measurements are still pending. The live demonstration shows behavior on an example, but it doesn't establish general accuracy.</a:t>
            </a:r>
          </a:p>
          <a:p xmlns:a="http://schemas.openxmlformats.org/drawingml/2006/main">
            <a:r>
              <a:t/>
            </a:r>
          </a:p>
          <a:p xmlns:a="http://schemas.openxmlformats.org/drawingml/2006/main">
            <a:r>
              <a:t>LIVE CUE</a:t>
            </a:r>
          </a:p>
          <a:p xmlns:a="http://schemas.openxmlformats.org/drawingml/2006/main">
            <a:r>
              <a:t>Replace Not run only with recorded measurements. Report numerators and denominators. Use the result-specific script in PITCH.md after evaluation. If no training completes, name the deployed base model accurately.</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and next improvements</a:t>
            </a:r>
          </a:p>
          <a:p xmlns:a="http://schemas.openxmlformats.org/drawingml/2006/main">
            <a:r>
              <a:t>Suggested time: 30 seconds</a:t>
            </a:r>
          </a:p>
          <a:p xmlns:a="http://schemas.openxmlformats.org/drawingml/2006/main">
            <a:r>
              <a:t/>
            </a:r>
          </a:p>
          <a:p xmlns:a="http://schemas.openxmlformats.org/drawingml/2006/main">
            <a:r>
              <a:t>SAY</a:t>
            </a:r>
          </a:p>
          <a:p xmlns:a="http://schemas.openxmlformats.org/drawingml/2006/main">
            <a:r>
              <a:t>Even a better result here would have limits. Handwriting errors can reach the grader. Synthetic examples simplify real work, and our labels can be wrong. New courses can require different reasoning. We would next test instructor-reviewed data and actual handwriting, with permission. TAs keep the final decision. Improved rubric agreement would be useful evidence, but it wouldn't prove that students learned more.</a:t>
            </a:r>
          </a:p>
          <a:p xmlns:a="http://schemas.openxmlformats.org/drawingml/2006/main">
            <a:r>
              <a:t/>
            </a:r>
          </a:p>
          <a:p xmlns:a="http://schemas.openxmlformats.org/drawingml/2006/main">
            <a:r>
              <a:t>LIVE CUE</a:t>
            </a:r>
          </a:p>
          <a:p xmlns:a="http://schemas.openxmlformats.org/drawingml/2006/main">
            <a:r>
              <a:t>If any limitation has been measured, show the actual count and retain the residual risk. Do not claim planned routing or other mitigations are already implemented.</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a:t>
            </a:r>
          </a:p>
          <a:p xmlns:a="http://schemas.openxmlformats.org/drawingml/2006/main">
            <a:r>
              <a:t>Suggested time: 20 seconds</a:t>
            </a:r>
          </a:p>
          <a:p xmlns:a="http://schemas.openxmlformats.org/drawingml/2006/main">
            <a:r>
              <a:t/>
            </a:r>
          </a:p>
          <a:p xmlns:a="http://schemas.openxmlformats.org/drawingml/2006/main">
            <a:r>
              <a:t>SAY</a:t>
            </a:r>
          </a:p>
          <a:p xmlns:a="http://schemas.openxmlformats.org/drawingml/2006/main">
            <a:r>
              <a:t>The next step is one instructor-approved practice assignment. We'd test whether students can use the feedback and whether TAs trust the evidence enough to review it. Verity's goal is useful feedback while there's still time to revise, with the instructor's expectations and judgment preserved.</a:t>
            </a:r>
          </a:p>
          <a:p xmlns:a="http://schemas.openxmlformats.org/drawingml/2006/main">
            <a:r>
              <a:t/>
            </a:r>
          </a:p>
          <a:p xmlns:a="http://schemas.openxmlformats.org/drawingml/2006/main">
            <a:r>
              <a:t>LIVE CUE</a:t>
            </a:r>
          </a:p>
          <a:p xmlns:a="http://schemas.openxmlformats.org/drawingml/2006/main">
            <a:r>
              <a:t>End the main pitch here. Appendix slides answer questions.</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record</a:t>
            </a:r>
          </a:p>
          <a:p xmlns:a="http://schemas.openxmlformats.org/drawingml/2006/main">
            <a:r>
              <a:t>Suggested time: 0 seconds</a:t>
            </a:r>
          </a:p>
          <a:p xmlns:a="http://schemas.openxmlformats.org/drawingml/2006/main">
            <a:r>
              <a:t/>
            </a:r>
          </a:p>
          <a:p xmlns:a="http://schemas.openxmlformats.org/drawingml/2006/main">
            <a:r>
              <a:t>SAY</a:t>
            </a:r>
          </a:p>
          <a:p xmlns:a="http://schemas.openxmlformats.org/drawingml/2006/main">
            <a:r>
              <a:t>Each target is tied to an explicit criterion and source block. Here the final values earn credit, but the derivation criterion is unmet. The student-facing text asks for reasoning without giving a worked step. This is an illustration record, not evidence that a model produced the correct output.</a:t>
            </a:r>
          </a:p>
          <a:p xmlns:a="http://schemas.openxmlformats.org/drawingml/2006/main">
            <a:r>
              <a:t/>
            </a:r>
          </a:p>
          <a:p xmlns:a="http://schemas.openxmlformats.org/drawingml/2006/main">
            <a:r>
              <a:t>LIVE CUE</a:t>
            </a:r>
          </a:p>
          <a:p xmlns:a="http://schemas.openxmlformats.org/drawingml/2006/main">
            <a:r>
              <a:t>The JSONL includes D01–D08, synthetic provenance, criterion decisions, and no model-generated predictions.</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design</a:t>
            </a:r>
          </a:p>
          <a:p xmlns:a="http://schemas.openxmlformats.org/drawingml/2006/main">
            <a:r>
              <a:t>Suggested time: 0 seconds</a:t>
            </a:r>
          </a:p>
          <a:p xmlns:a="http://schemas.openxmlformats.org/drawingml/2006/main">
            <a:r>
              <a:t/>
            </a:r>
          </a:p>
          <a:p xmlns:a="http://schemas.openxmlformats.org/drawingml/2006/main">
            <a:r>
              <a:t>SAY</a:t>
            </a:r>
          </a:p>
          <a:p xmlns:a="http://schemas.openxmlformats.org/drawingml/2006/main">
            <a:r>
              <a:t>A versus B isolates the adapter. B versus C isolates the output controls. We also report how often the system refuses to assess or routes work for review. Otherwise a system could look accurate simply by withholding difficult cases. Grading quality and answer leakage need separate measurements at the raw model and user-visible stages.</a:t>
            </a:r>
          </a:p>
          <a:p xmlns:a="http://schemas.openxmlformats.org/drawingml/2006/main">
            <a:r>
              <a:t/>
            </a:r>
          </a:p>
          <a:p xmlns:a="http://schemas.openxmlformats.org/drawingml/2006/main">
            <a:r>
              <a:t>LIVE CUE</a:t>
            </a:r>
          </a:p>
          <a:p xmlns:a="http://schemas.openxmlformats.org/drawingml/2006/main">
            <a:r>
              <a:t>First run the model comparison on checked transcripts, then test the complete document pipeline separately.</a:t>
            </a:r>
          </a:p>
          <a:p xmlns:a="http://schemas.openxmlformats.org/drawingml/2006/main">
            <a:r>
              <a:t/>
            </a:r>
          </a:p>
          <a:p xmlns:a="http://schemas.openxmlformats.org/drawingml/2006/main">
            <a:r>
              <a:t>SOURCES</a:t>
            </a:r>
          </a:p>
          <a:p xmlns:a="http://schemas.openxmlformats.org/drawingml/2006/main">
            <a:r>
              <a:t>Original Verity proposal and synthetic examples created for this pitch. No measured model output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Reproducibility</a:t>
            </a:r>
          </a:p>
          <a:p xmlns:a="http://schemas.openxmlformats.org/drawingml/2006/main">
            <a:r>
              <a:t>Suggested time: 0 seconds</a:t>
            </a:r>
          </a:p>
          <a:p xmlns:a="http://schemas.openxmlformats.org/drawingml/2006/main">
            <a:r>
              <a:t/>
            </a:r>
          </a:p>
          <a:p xmlns:a="http://schemas.openxmlformats.org/drawingml/2006/main">
            <a:r>
              <a:t>SAY</a:t>
            </a:r>
          </a:p>
          <a:p xmlns:a="http://schemas.openxmlformats.org/drawingml/2006/main">
            <a:r>
              <a:t>We can explain the exact training run through the model revision, dataset split, adapter configuration, compute and saved artifacts. At this drafting stage those run details aren't available. We won't fill them with estimates or present the eight illustration records as a trained dataset.</a:t>
            </a:r>
          </a:p>
          <a:p xmlns:a="http://schemas.openxmlformats.org/drawingml/2006/main">
            <a:r>
              <a:t/>
            </a:r>
          </a:p>
          <a:p xmlns:a="http://schemas.openxmlformats.org/drawingml/2006/main">
            <a:r>
              <a:t>LIVE CUE</a:t>
            </a:r>
          </a:p>
          <a:p xmlns:a="http://schemas.openxmlformats.org/drawingml/2006/main">
            <a:r>
              <a:t>Update from actual logs. NVIDIA’s published verification recipe is not a record of our run.</a:t>
            </a:r>
          </a:p>
          <a:p xmlns:a="http://schemas.openxmlformats.org/drawingml/2006/main">
            <a:r>
              <a:t/>
            </a:r>
          </a:p>
          <a:p xmlns:a="http://schemas.openxmlformats.org/drawingml/2006/main">
            <a:r>
              <a:t>SOURCES</a:t>
            </a:r>
          </a:p>
          <a:p xmlns:a="http://schemas.openxmlformats.org/drawingml/2006/main">
            <a:r>
              <a:t>https://docs.nvidia.com/nemo/megatron-bridge/nightly/models/nemotron/nemotron3-nano-4b.html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4c428342f84d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e7429415304a4a" /><Relationship Type="http://schemas.openxmlformats.org/officeDocument/2006/relationships/slideLayout" Target="/ppt/slideLayouts/slideLayout1.xml" Id="Rb40e77b2b2e64c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0e77b2b2e64c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191e2e5e6549c6" /><Relationship Type="http://schemas.openxmlformats.org/officeDocument/2006/relationships/notesSlide" Target="/ppt/notesSlides/notesSlide1.xml" Id="Rbc83214a9cb944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8f9a415f414d4a" /><Relationship Type="http://schemas.openxmlformats.org/officeDocument/2006/relationships/notesSlide" Target="/ppt/notesSlides/notesSlide2.xml" Id="R8b6c66157cdd4f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1872b16ae644f3" /><Relationship Type="http://schemas.openxmlformats.org/officeDocument/2006/relationships/notesSlide" Target="/ppt/notesSlides/notesSlide3.xml" Id="Rb2ee03d2a14a4b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6eb7fa67894829" /><Relationship Type="http://schemas.openxmlformats.org/officeDocument/2006/relationships/notesSlide" Target="/ppt/notesSlides/notesSlide4.xml" Id="R7e6d7313cc3845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e5410c345e42b9" /><Relationship Type="http://schemas.openxmlformats.org/officeDocument/2006/relationships/notesSlide" Target="/ppt/notesSlides/notesSlide5.xml" Id="R0bb0c553b00942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7f496a2dcf4b74" /><Relationship Type="http://schemas.openxmlformats.org/officeDocument/2006/relationships/notesSlide" Target="/ppt/notesSlides/notesSlide6.xml" Id="Ra81cfc00d6bf4d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d8f9595a4e4123" /><Relationship Type="http://schemas.openxmlformats.org/officeDocument/2006/relationships/notesSlide" Target="/ppt/notesSlides/notesSlide7.xml" Id="R691f17d193e743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2ed2a5f87e49ee" /><Relationship Type="http://schemas.openxmlformats.org/officeDocument/2006/relationships/notesSlide" Target="/ppt/notesSlides/notesSlide8.xml" Id="R458260b98abc40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f21dfa7b1b41c9" /><Relationship Type="http://schemas.openxmlformats.org/officeDocument/2006/relationships/notesSlide" Target="/ppt/notesSlides/notesSlide9.xml" Id="R672da6dcbe2544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15039c5a504e5f" /><Relationship Type="http://schemas.openxmlformats.org/officeDocument/2006/relationships/notesSlide" Target="/ppt/notesSlides/notesSlide10.xml" Id="Rd41506b7e2d048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1338d2b06845c1" /><Relationship Type="http://schemas.openxmlformats.org/officeDocument/2006/relationships/notesSlide" Target="/ppt/notesSlides/notesSlide11.xml" Id="Rad728f3383f34cfb" /></Relationships>
</file>

<file path=ppt/slides/slide1.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A523E0-489A-4FC5-85F5-A7A9488FBA08}"/>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Verity</a:t>
            </a:r>
          </a:p>
        </p:txBody>
      </p:sp>
      <p:sp>
        <p:nvSpPr>
          <p:cNvPr id="2" name="">
            <a:extLst xmlns:a="http://schemas.openxmlformats.org/drawingml/2006/main">
              <a:ext uri="{FF2B5EF4-FFF2-40B4-BE49-F238E27FC236}">
                <a16:creationId xmlns:a16="http://schemas.microsoft.com/office/drawing/2014/main" id="{7B9F95A7-398E-4B3C-9C1B-49B569A352A4}"/>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DE4DC"/>
                </a:solidFill>
                <a:latin typeface="Helvetica Neue"/>
                <a:ea typeface="Helvetica Neue"/>
                <a:cs typeface="Helvetica Neue"/>
              </a:defRPr>
            </a:pPr>
            <a:r>
              <a:rPr sz="1950" b="0">
                <a:solidFill>
                  <a:srgbClr val="CDE4DC"/>
                </a:solidFill>
                <a:latin typeface="Helvetica Neue"/>
                <a:ea typeface="Helvetica Neue"/>
                <a:cs typeface="Helvetica Neue"/>
              </a:rPr>
              <a:t>Feedback before you hand it in</a:t>
            </a:r>
          </a:p>
        </p:txBody>
      </p:sp>
      <p:sp>
        <p:nvSpPr>
          <p:cNvPr id="3" name="">
            <a:extLst xmlns:a="http://schemas.openxmlformats.org/drawingml/2006/main">
              <a:ext uri="{FF2B5EF4-FFF2-40B4-BE49-F238E27FC236}">
                <a16:creationId xmlns:a16="http://schemas.microsoft.com/office/drawing/2014/main" id="{E1F14AAA-20FC-4C2A-A2EA-F5E9F87468D9}"/>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DE4DC"/>
                </a:solidFill>
                <a:latin typeface="Helvetica Neue"/>
                <a:ea typeface="Helvetica Neue"/>
                <a:cs typeface="Helvetica Neue"/>
              </a:defRPr>
            </a:pPr>
            <a:r>
              <a:rPr sz="1350" b="0">
                <a:solidFill>
                  <a:srgbClr val="CDE4D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FC5D1378-06DF-47D2-9A76-D9268867E262}"/>
              </a:ext>
            </a:extLst>
          </p:cNvPr>
          <p:cNvSpPr>
            <a:spLocks xmlns:a="http://schemas.openxmlformats.org/drawingml/2006/main" noGrp="1"/>
          </p:cNvSpPr>
          <p:nvPr/>
        </p:nvSpPr>
        <p:spPr>
          <a:xfrm xmlns:a="http://schemas.openxmlformats.org/drawingml/2006/main">
            <a:off x="685800" y="2733675"/>
            <a:ext cx="1000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Instructor expectations</a:t>
            </a:r>
          </a:p>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Student reasoning</a:t>
            </a:r>
          </a:p>
        </p:txBody>
      </p:sp>
      <p:sp>
        <p:nvSpPr>
          <p:cNvPr id="5" name="">
            <a:extLst xmlns:a="http://schemas.openxmlformats.org/drawingml/2006/main">
              <a:ext uri="{FF2B5EF4-FFF2-40B4-BE49-F238E27FC236}">
                <a16:creationId xmlns:a16="http://schemas.microsoft.com/office/drawing/2014/main" id="{29630AAB-C33B-40EE-88C3-2FDEF4B9B7F2}"/>
              </a:ext>
            </a:extLst>
          </p:cNvPr>
          <p:cNvSpPr>
            <a:spLocks xmlns:a="http://schemas.openxmlformats.org/drawingml/2006/main" noGrp="1"/>
          </p:cNvSpPr>
          <p:nvPr/>
        </p:nvSpPr>
        <p:spPr>
          <a:xfrm xmlns:a="http://schemas.openxmlformats.org/drawingml/2006/main">
            <a:off x="685800" y="50958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DE4DC"/>
                </a:solidFill>
                <a:latin typeface="Helvetica Neue"/>
                <a:ea typeface="Helvetica Neue"/>
                <a:cs typeface="Helvetica Neue"/>
              </a:defRPr>
            </a:pPr>
            <a:r>
              <a:rPr sz="2100" b="0">
                <a:solidFill>
                  <a:srgbClr val="CDE4DC"/>
                </a:solidFill>
                <a:latin typeface="Helvetica Neue"/>
                <a:ea typeface="Helvetica Neue"/>
                <a:cs typeface="Helvetica Neue"/>
              </a:rPr>
              <a:t>A Nemotron assessment experiment for math coursework</a:t>
            </a:r>
          </a:p>
        </p:txBody>
      </p:sp>
      <p:sp>
        <p:nvSpPr>
          <p:cNvPr id="6" name="">
            <a:extLst xmlns:a="http://schemas.openxmlformats.org/drawingml/2006/main">
              <a:ext uri="{FF2B5EF4-FFF2-40B4-BE49-F238E27FC236}">
                <a16:creationId xmlns:a16="http://schemas.microsoft.com/office/drawing/2014/main" id="{B8C3B183-85CF-4987-85A4-1B86A484DA53}"/>
              </a:ext>
            </a:extLst>
          </p:cNvPr>
          <p:cNvSpPr>
            <a:spLocks xmlns:a="http://schemas.openxmlformats.org/drawingml/2006/main" noGrp="1"/>
          </p:cNvSpPr>
          <p:nvPr/>
        </p:nvSpPr>
        <p:spPr>
          <a:xfrm xmlns:a="http://schemas.openxmlformats.org/drawingml/2006/main">
            <a:off x="685800" y="62960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DE4DC"/>
                </a:solidFill>
                <a:latin typeface="Helvetica Neue"/>
                <a:ea typeface="Helvetica Neue"/>
                <a:cs typeface="Helvetica Neue"/>
              </a:defRPr>
            </a:pPr>
            <a:r>
              <a:rPr sz="1350" b="0">
                <a:solidFill>
                  <a:srgbClr val="CDE4DC"/>
                </a:solidFill>
                <a:latin typeface="Helvetica Neue"/>
                <a:ea typeface="Helvetica Neue"/>
                <a:cs typeface="Helvetica Neue"/>
              </a:rPr>
              <a:t>SteelHacks 2026</a:t>
            </a:r>
          </a:p>
        </p:txBody>
      </p:sp>
    </p:spTree>
    <p:extLst>
      <p:ext uri="{BB962C8B-B14F-4D97-AF65-F5344CB8AC3E}">
        <p14:creationId xmlns:p14="http://schemas.microsoft.com/office/powerpoint/2010/main" val="343076393"/>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CEF642-EFAA-4DFD-AB18-E580F47E7AFC}"/>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The base model</a:t>
            </a:r>
          </a:p>
        </p:txBody>
      </p:sp>
      <p:sp>
        <p:nvSpPr>
          <p:cNvPr id="2" name="">
            <a:extLst xmlns:a="http://schemas.openxmlformats.org/drawingml/2006/main">
              <a:ext uri="{FF2B5EF4-FFF2-40B4-BE49-F238E27FC236}">
                <a16:creationId xmlns:a16="http://schemas.microsoft.com/office/drawing/2014/main" id="{F7F40885-D532-41ED-B03A-59B3AA49B398}"/>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Candidate checkpoint: NVIDIA Nemotron 3 Nano 4B</a:t>
            </a:r>
          </a:p>
        </p:txBody>
      </p:sp>
      <p:sp>
        <p:nvSpPr>
          <p:cNvPr id="3" name="">
            <a:extLst xmlns:a="http://schemas.openxmlformats.org/drawingml/2006/main">
              <a:ext uri="{FF2B5EF4-FFF2-40B4-BE49-F238E27FC236}">
                <a16:creationId xmlns:a16="http://schemas.microsoft.com/office/drawing/2014/main" id="{40A94FC3-B48E-4AD4-A1F8-423D4CA954A6}"/>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B03F529-D961-4AE3-99BE-C09C592963B7}"/>
              </a:ext>
            </a:extLst>
          </p:cNvPr>
          <p:cNvSpPr>
            <a:spLocks xmlns:a="http://schemas.openxmlformats.org/drawingml/2006/main" noGrp="1"/>
          </p:cNvSpPr>
          <p:nvPr/>
        </p:nvSpPr>
        <p:spPr>
          <a:xfrm xmlns:a="http://schemas.openxmlformats.org/drawingml/2006/main">
            <a:off x="685800" y="22955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568"/>
                </a:solidFill>
                <a:latin typeface="Helvetica Neue"/>
                <a:ea typeface="Helvetica Neue"/>
                <a:cs typeface="Helvetica Neue"/>
              </a:defRPr>
            </a:pPr>
            <a:r>
              <a:rPr sz="2250" b="1">
                <a:solidFill>
                  <a:srgbClr val="087568"/>
                </a:solidFill>
                <a:latin typeface="Helvetica Neue"/>
                <a:ea typeface="Helvetica Neue"/>
                <a:cs typeface="Helvetica Neue"/>
              </a:rPr>
              <a:t>What NVIDIA provides</a:t>
            </a:r>
          </a:p>
        </p:txBody>
      </p:sp>
      <p:sp>
        <p:nvSpPr>
          <p:cNvPr id="5" name="">
            <a:extLst xmlns:a="http://schemas.openxmlformats.org/drawingml/2006/main">
              <a:ext uri="{FF2B5EF4-FFF2-40B4-BE49-F238E27FC236}">
                <a16:creationId xmlns:a16="http://schemas.microsoft.com/office/drawing/2014/main" id="{4236F78D-6B02-4871-8EBF-86C9CDC49AFA}"/>
              </a:ext>
            </a:extLst>
          </p:cNvPr>
          <p:cNvSpPr>
            <a:spLocks xmlns:a="http://schemas.openxmlformats.org/drawingml/2006/main" noGrp="1"/>
          </p:cNvSpPr>
          <p:nvPr/>
        </p:nvSpPr>
        <p:spPr>
          <a:xfrm xmlns:a="http://schemas.openxmlformats.org/drawingml/2006/main">
            <a:off x="685800" y="2990850"/>
            <a:ext cx="4905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B36"/>
                </a:solidFill>
                <a:latin typeface="Helvetica Neue"/>
                <a:ea typeface="Helvetica Neue"/>
                <a:cs typeface="Helvetica Neue"/>
              </a:defRPr>
            </a:pPr>
            <a:r>
              <a:rPr sz="2550" b="1">
                <a:solidFill>
                  <a:srgbClr val="173B36"/>
                </a:solidFill>
                <a:latin typeface="Helvetica Neue"/>
                <a:ea typeface="Helvetica Neue"/>
                <a:cs typeface="Helvetica Neue"/>
              </a:rPr>
              <a:t>A reasoning model</a:t>
            </a:r>
          </a:p>
          <a:p xmlns:a="http://schemas.openxmlformats.org/drawingml/2006/main">
            <a:pPr>
              <a:defRPr sz="2550" b="1">
                <a:solidFill>
                  <a:srgbClr val="173B36"/>
                </a:solidFill>
                <a:latin typeface="Helvetica Neue"/>
                <a:ea typeface="Helvetica Neue"/>
                <a:cs typeface="Helvetica Neue"/>
              </a:defRPr>
            </a:pPr>
            <a:r>
              <a:rPr sz="2550" b="1">
                <a:solidFill>
                  <a:srgbClr val="173B36"/>
                </a:solidFill>
                <a:latin typeface="Helvetica Neue"/>
                <a:ea typeface="Helvetica Neue"/>
                <a:cs typeface="Helvetica Neue"/>
              </a:rPr>
              <a:t>with text input and output</a:t>
            </a:r>
          </a:p>
        </p:txBody>
      </p:sp>
      <p:sp>
        <p:nvSpPr>
          <p:cNvPr id="6" name="">
            <a:extLst xmlns:a="http://schemas.openxmlformats.org/drawingml/2006/main">
              <a:ext uri="{FF2B5EF4-FFF2-40B4-BE49-F238E27FC236}">
                <a16:creationId xmlns:a16="http://schemas.microsoft.com/office/drawing/2014/main" id="{0BA5E3B3-C504-42F9-9ECA-43E08921302C}"/>
              </a:ext>
            </a:extLst>
          </p:cNvPr>
          <p:cNvSpPr>
            <a:spLocks xmlns:a="http://schemas.openxmlformats.org/drawingml/2006/main" noGrp="1"/>
          </p:cNvSpPr>
          <p:nvPr/>
        </p:nvSpPr>
        <p:spPr>
          <a:xfrm xmlns:a="http://schemas.openxmlformats.org/drawingml/2006/main">
            <a:off x="685800" y="4257675"/>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A6863"/>
                </a:solidFill>
                <a:latin typeface="Helvetica Neue"/>
                <a:ea typeface="Helvetica Neue"/>
                <a:cs typeface="Helvetica Neue"/>
              </a:defRPr>
            </a:pPr>
            <a:r>
              <a:rPr sz="2025" b="0">
                <a:solidFill>
                  <a:srgbClr val="5A6863"/>
                </a:solidFill>
                <a:latin typeface="Helvetica Neue"/>
                <a:ea typeface="Helvetica Neue"/>
                <a:cs typeface="Helvetica Neue"/>
              </a:rPr>
              <a:t>LoRA support in NVIDIA’s training stack</a:t>
            </a:r>
          </a:p>
        </p:txBody>
      </p:sp>
      <p:sp>
        <p:nvSpPr>
          <p:cNvPr id="7" name="">
            <a:extLst xmlns:a="http://schemas.openxmlformats.org/drawingml/2006/main">
              <a:ext uri="{FF2B5EF4-FFF2-40B4-BE49-F238E27FC236}">
                <a16:creationId xmlns:a16="http://schemas.microsoft.com/office/drawing/2014/main" id="{F66487F7-5636-4795-9E29-CA1246F944D6}"/>
              </a:ext>
            </a:extLst>
          </p:cNvPr>
          <p:cNvSpPr>
            <a:spLocks xmlns:a="http://schemas.openxmlformats.org/drawingml/2006/main" noGrp="1"/>
          </p:cNvSpPr>
          <p:nvPr/>
        </p:nvSpPr>
        <p:spPr>
          <a:xfrm xmlns:a="http://schemas.openxmlformats.org/drawingml/2006/main">
            <a:off x="6438900" y="22955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568"/>
                </a:solidFill>
                <a:latin typeface="Helvetica Neue"/>
                <a:ea typeface="Helvetica Neue"/>
                <a:cs typeface="Helvetica Neue"/>
              </a:defRPr>
            </a:pPr>
            <a:r>
              <a:rPr sz="2250" b="1">
                <a:solidFill>
                  <a:srgbClr val="087568"/>
                </a:solidFill>
                <a:latin typeface="Helvetica Neue"/>
                <a:ea typeface="Helvetica Neue"/>
                <a:cs typeface="Helvetica Neue"/>
              </a:rPr>
              <a:t>Task-specific questions</a:t>
            </a:r>
          </a:p>
        </p:txBody>
      </p:sp>
      <p:sp>
        <p:nvSpPr>
          <p:cNvPr id="8" name="">
            <a:extLst xmlns:a="http://schemas.openxmlformats.org/drawingml/2006/main">
              <a:ext uri="{FF2B5EF4-FFF2-40B4-BE49-F238E27FC236}">
                <a16:creationId xmlns:a16="http://schemas.microsoft.com/office/drawing/2014/main" id="{E5B412F0-6ECF-4655-8385-405F8E7A78A4}"/>
              </a:ext>
            </a:extLst>
          </p:cNvPr>
          <p:cNvSpPr>
            <a:spLocks xmlns:a="http://schemas.openxmlformats.org/drawingml/2006/main" noGrp="1"/>
          </p:cNvSpPr>
          <p:nvPr/>
        </p:nvSpPr>
        <p:spPr>
          <a:xfrm xmlns:a="http://schemas.openxmlformats.org/drawingml/2006/main">
            <a:off x="6438900" y="2990850"/>
            <a:ext cx="50673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B36"/>
                </a:solidFill>
                <a:latin typeface="Helvetica Neue"/>
                <a:ea typeface="Helvetica Neue"/>
                <a:cs typeface="Helvetica Neue"/>
              </a:defRPr>
            </a:pPr>
            <a:r>
              <a:rPr sz="2175" b="0">
                <a:solidFill>
                  <a:srgbClr val="173B36"/>
                </a:solidFill>
                <a:latin typeface="Helvetica Neue"/>
                <a:ea typeface="Helvetica Neue"/>
                <a:cs typeface="Helvetica Neue"/>
              </a:rPr>
              <a:t>Does it follow a new rubric?</a:t>
            </a:r>
          </a:p>
          <a:p xmlns:a="http://schemas.openxmlformats.org/drawingml/2006/main">
            <a:pPr>
              <a:defRPr sz="2175" b="0">
                <a:solidFill>
                  <a:srgbClr val="173B36"/>
                </a:solidFill>
                <a:latin typeface="Helvetica Neue"/>
                <a:ea typeface="Helvetica Neue"/>
                <a:cs typeface="Helvetica Neue"/>
              </a:defRPr>
            </a:pPr>
            <a:r>
              <a:rPr sz="2175" b="0">
                <a:solidFill>
                  <a:srgbClr val="173B36"/>
                </a:solidFill>
                <a:latin typeface="Helvetica Neue"/>
                <a:ea typeface="Helvetica Neue"/>
                <a:cs typeface="Helvetica Neue"/>
              </a:rPr>
              <a:t>Does it accept another valid method?</a:t>
            </a:r>
          </a:p>
          <a:p xmlns:a="http://schemas.openxmlformats.org/drawingml/2006/main">
            <a:pPr>
              <a:defRPr sz="2175" b="0">
                <a:solidFill>
                  <a:srgbClr val="173B36"/>
                </a:solidFill>
                <a:latin typeface="Helvetica Neue"/>
                <a:ea typeface="Helvetica Neue"/>
                <a:cs typeface="Helvetica Neue"/>
              </a:defRPr>
            </a:pPr>
            <a:r>
              <a:rPr sz="2175" b="0">
                <a:solidFill>
                  <a:srgbClr val="173B36"/>
                </a:solidFill>
                <a:latin typeface="Helvetica Neue"/>
                <a:ea typeface="Helvetica Neue"/>
                <a:cs typeface="Helvetica Neue"/>
              </a:rPr>
              <a:t>Does it avoid revealing the solution?</a:t>
            </a:r>
          </a:p>
        </p:txBody>
      </p:sp>
      <p:sp>
        <p:nvSpPr>
          <p:cNvPr id="9" name="">
            <a:extLst xmlns:a="http://schemas.openxmlformats.org/drawingml/2006/main">
              <a:ext uri="{FF2B5EF4-FFF2-40B4-BE49-F238E27FC236}">
                <a16:creationId xmlns:a16="http://schemas.microsoft.com/office/drawing/2014/main" id="{7D9E42B7-4E83-4789-8CCD-E0C75055752E}"/>
              </a:ext>
            </a:extLst>
          </p:cNvPr>
          <p:cNvSpPr>
            <a:spLocks xmlns:a="http://schemas.openxmlformats.org/drawingml/2006/main" noGrp="1"/>
          </p:cNvSpPr>
          <p:nvPr/>
        </p:nvSpPr>
        <p:spPr>
          <a:xfrm xmlns:a="http://schemas.openxmlformats.org/drawingml/2006/main">
            <a:off x="685800" y="57531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45025"/>
                </a:solidFill>
                <a:latin typeface="Helvetica Neue"/>
                <a:ea typeface="Helvetica Neue"/>
                <a:cs typeface="Helvetica Neue"/>
              </a:defRPr>
            </a:pPr>
            <a:r>
              <a:rPr sz="1800" b="0">
                <a:solidFill>
                  <a:srgbClr val="A45025"/>
                </a:solidFill>
                <a:latin typeface="Helvetica Neue"/>
                <a:ea typeface="Helvetica Neue"/>
                <a:cs typeface="Helvetica Neue"/>
              </a:rPr>
              <a:t>Task performance is unmeasured. These are test questions, not observed failures.</a:t>
            </a:r>
          </a:p>
        </p:txBody>
      </p:sp>
    </p:spTree>
    <p:extLst>
      <p:ext uri="{BB962C8B-B14F-4D97-AF65-F5344CB8AC3E}">
        <p14:creationId xmlns:p14="http://schemas.microsoft.com/office/powerpoint/2010/main" val="1383654263"/>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E1E0BA-502B-4E10-AAEC-4D839EAF54B7}"/>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Synthetic examples</a:t>
            </a:r>
          </a:p>
        </p:txBody>
      </p:sp>
      <p:sp>
        <p:nvSpPr>
          <p:cNvPr id="2" name="">
            <a:extLst xmlns:a="http://schemas.openxmlformats.org/drawingml/2006/main">
              <a:ext uri="{FF2B5EF4-FFF2-40B4-BE49-F238E27FC236}">
                <a16:creationId xmlns:a16="http://schemas.microsoft.com/office/drawing/2014/main" id="{24FF1C70-7589-4C42-94E4-443DF01F4157}"/>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One problem. Explicit rules. Labels written before a model run.</a:t>
            </a:r>
          </a:p>
        </p:txBody>
      </p:sp>
      <p:sp>
        <p:nvSpPr>
          <p:cNvPr id="3" name="">
            <a:extLst xmlns:a="http://schemas.openxmlformats.org/drawingml/2006/main">
              <a:ext uri="{FF2B5EF4-FFF2-40B4-BE49-F238E27FC236}">
                <a16:creationId xmlns:a16="http://schemas.microsoft.com/office/drawing/2014/main" id="{3982F14D-DA00-4888-BDAF-4A5A643C89E3}"/>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162CD89-CE70-4205-801D-328F6F2A9ED1}"/>
              </a:ext>
            </a:extLst>
          </p:cNvPr>
          <p:cNvSpPr>
            <a:spLocks xmlns:a="http://schemas.openxmlformats.org/drawingml/2006/main" noGrp="1"/>
          </p:cNvSpPr>
          <p:nvPr/>
        </p:nvSpPr>
        <p:spPr>
          <a:xfrm xmlns:a="http://schemas.openxmlformats.org/drawingml/2006/main">
            <a:off x="685800" y="2143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B36"/>
                </a:solidFill>
                <a:latin typeface="Helvetica Neue"/>
                <a:ea typeface="Helvetica Neue"/>
                <a:cs typeface="Helvetica Neue"/>
              </a:defRPr>
            </a:pPr>
            <a:r>
              <a:rPr sz="3000" b="1">
                <a:solidFill>
                  <a:srgbClr val="173B36"/>
                </a:solidFill>
                <a:latin typeface="Helvetica Neue"/>
                <a:ea typeface="Helvetica Neue"/>
                <a:cs typeface="Helvetica Neue"/>
              </a:rPr>
              <a:t>Solve x + y = 5 and x − y = 1</a:t>
            </a:r>
          </a:p>
        </p:txBody>
      </p:sp>
      <p:graphicFrame>
        <p:nvGraphicFramePr>
          <p:cNvPr id="11" name=""/>
          <p:cNvGraphicFramePr/>
          <p:nvPr/>
        </p:nvGraphicFramePr>
        <p:xfrm>
          <a:off xmlns:a="http://schemas.openxmlformats.org/drawingml/2006/main" x="685800" y="3019425"/>
          <a:ext xmlns:a="http://schemas.openxmlformats.org/drawingml/2006/main" cx="10820400" cy="2514600"/>
        </p:xfrm>
        <a:graphic xmlns:a="http://schemas.openxmlformats.org/drawingml/2006/main">
          <a:graphicData uri="http://schemas.openxmlformats.org/drawingml/2006/table">
            <a:tbl>
              <a:tblPr/>
              <a:tblGrid>
                <a:gridCol w="3571875"/>
                <a:gridCol w="3667125"/>
                <a:gridCol w="3581400"/>
              </a:tblGrid>
              <a:tr h="628650">
                <a:tc>
                  <a:txBody>
                    <a:bodyPr/>
                    <a:lstStyle/>
                    <a:p>
                      <a:r>
                        <a:rPr sz="1800" b="1">
                          <a:solidFill>
                            <a:srgbClr val="FFFFFF"/>
                          </a:solidFill>
                          <a:latin typeface="Helvetica Neue"/>
                          <a:ea typeface="Helvetica Neue"/>
                          <a:cs typeface="Helvetica Neue"/>
                        </a:rPr>
                        <a:t>Student work</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Rubric requirement</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Expected label</a:t>
                      </a:r>
                    </a:p>
                  </a:txBody>
                  <a:tcPr marL="152400" marR="152400" marT="114300" marB="114300">
                    <a:solidFill>
                      <a:srgbClr val="173B36"/>
                    </a:solidFill>
                  </a:tcPr>
                </a:tc>
              </a:tr>
              <a:tr h="628650">
                <a:tc>
                  <a:txBody>
                    <a:bodyPr/>
                    <a:lstStyle/>
                    <a:p>
                      <a:r>
                        <a:rPr sz="1875" b="0">
                          <a:solidFill>
                            <a:srgbClr val="173B36"/>
                          </a:solidFill>
                          <a:latin typeface="Helvetica Neue"/>
                          <a:ea typeface="Helvetica Neue"/>
                          <a:cs typeface="Helvetica Neue"/>
                        </a:rPr>
                        <a:t>x = 3, y = 2 only</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Show a valid derivation</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Missing justification</a:t>
                      </a:r>
                    </a:p>
                  </a:txBody>
                  <a:tcPr marL="152400" marR="152400" marT="114300" marB="114300">
                    <a:solidFill>
                      <a:srgbClr val="FFFFFF"/>
                    </a:solidFill>
                  </a:tcPr>
                </a:tc>
              </a:tr>
              <a:tr h="628650">
                <a:tc>
                  <a:txBody>
                    <a:bodyPr/>
                    <a:lstStyle/>
                    <a:p>
                      <a:r>
                        <a:rPr sz="1875" b="0">
                          <a:solidFill>
                            <a:srgbClr val="173B36"/>
                          </a:solidFill>
                          <a:latin typeface="Helvetica Neue"/>
                          <a:ea typeface="Helvetica Neue"/>
                          <a:cs typeface="Helvetica Neue"/>
                        </a:rPr>
                        <a:t>x = 3, y = 2 only</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Final values only</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Meets the rubric</a:t>
                      </a:r>
                    </a:p>
                  </a:txBody>
                  <a:tcPr marL="152400" marR="152400" marT="114300" marB="114300">
                    <a:solidFill>
                      <a:srgbClr val="E8EEEA"/>
                    </a:solidFill>
                  </a:tcPr>
                </a:tc>
              </a:tr>
              <a:tr h="628650">
                <a:tc>
                  <a:txBody>
                    <a:bodyPr/>
                    <a:lstStyle/>
                    <a:p>
                      <a:r>
                        <a:rPr sz="1875" b="0">
                          <a:solidFill>
                            <a:srgbClr val="173B36"/>
                          </a:solidFill>
                          <a:latin typeface="Helvetica Neue"/>
                          <a:ea typeface="Helvetica Neue"/>
                          <a:cs typeface="Helvetica Neue"/>
                        </a:rPr>
                        <a:t>Correct substitution method</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Any valid derivation</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Meets the rubric</a:t>
                      </a:r>
                    </a:p>
                  </a:txBody>
                  <a:tcPr marL="152400" marR="152400" marT="114300" marB="1143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3D5F623-2D08-4512-A3DF-03DBE6DAFDC8}"/>
              </a:ext>
            </a:extLst>
          </p:cNvPr>
          <p:cNvSpPr>
            <a:spLocks xmlns:a="http://schemas.openxmlformats.org/drawingml/2006/main" noGrp="1"/>
          </p:cNvSpPr>
          <p:nvPr/>
        </p:nvSpPr>
        <p:spPr>
          <a:xfrm xmlns:a="http://schemas.openxmlformats.org/drawingml/2006/main">
            <a:off x="685800" y="5810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5025"/>
                </a:solidFill>
                <a:latin typeface="Helvetica Neue"/>
                <a:ea typeface="Helvetica Neue"/>
                <a:cs typeface="Helvetica Neue"/>
              </a:defRPr>
            </a:pPr>
            <a:r>
              <a:rPr sz="1725" b="0">
                <a:solidFill>
                  <a:srgbClr val="A45025"/>
                </a:solidFill>
                <a:latin typeface="Helvetica Neue"/>
                <a:ea typeface="Helvetica Neue"/>
                <a:cs typeface="Helvetica Neue"/>
              </a:rPr>
              <a:t>AI-authored fictional examples and reference labels. No model predictions or instructor review.</a:t>
            </a:r>
          </a:p>
        </p:txBody>
      </p:sp>
    </p:spTree>
    <p:extLst>
      <p:ext uri="{BB962C8B-B14F-4D97-AF65-F5344CB8AC3E}">
        <p14:creationId xmlns:p14="http://schemas.microsoft.com/office/powerpoint/2010/main" val="1329292305"/>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AF8E0A-5EC4-453A-8BB1-65BA124E3009}"/>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The adaptation</a:t>
            </a:r>
          </a:p>
        </p:txBody>
      </p:sp>
      <p:sp>
        <p:nvSpPr>
          <p:cNvPr id="2" name="">
            <a:extLst xmlns:a="http://schemas.openxmlformats.org/drawingml/2006/main">
              <a:ext uri="{FF2B5EF4-FFF2-40B4-BE49-F238E27FC236}">
                <a16:creationId xmlns:a16="http://schemas.microsoft.com/office/drawing/2014/main" id="{81AF2D84-2204-41D8-A0D4-520626146200}"/>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Proposed method. Training and implementation remain unverified.</a:t>
            </a:r>
          </a:p>
        </p:txBody>
      </p:sp>
      <p:sp>
        <p:nvSpPr>
          <p:cNvPr id="3" name="">
            <a:extLst xmlns:a="http://schemas.openxmlformats.org/drawingml/2006/main">
              <a:ext uri="{FF2B5EF4-FFF2-40B4-BE49-F238E27FC236}">
                <a16:creationId xmlns:a16="http://schemas.microsoft.com/office/drawing/2014/main" id="{48639184-F68C-4F80-92EB-9A3067739521}"/>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04</a:t>
            </a:r>
          </a:p>
        </p:txBody>
      </p:sp>
      <p:graphicFrame>
        <p:nvGraphicFramePr>
          <p:cNvPr id="8" name=""/>
          <p:cNvGraphicFramePr/>
          <p:nvPr/>
        </p:nvGraphicFramePr>
        <p:xfrm>
          <a:off xmlns:a="http://schemas.openxmlformats.org/drawingml/2006/main" x="685800" y="2209800"/>
          <a:ext xmlns:a="http://schemas.openxmlformats.org/drawingml/2006/main" cx="10820400" cy="3333750"/>
        </p:xfrm>
        <a:graphic xmlns:a="http://schemas.openxmlformats.org/drawingml/2006/main">
          <a:graphicData uri="http://schemas.openxmlformats.org/drawingml/2006/table">
            <a:tbl>
              <a:tblPr/>
              <a:tblGrid>
                <a:gridCol w="2238375"/>
                <a:gridCol w="4010025"/>
                <a:gridCol w="4572000"/>
              </a:tblGrid>
              <a:tr h="666750">
                <a:tc>
                  <a:txBody>
                    <a:bodyPr/>
                    <a:lstStyle/>
                    <a:p>
                      <a:r>
                        <a:rPr sz="1800" b="1">
                          <a:solidFill>
                            <a:srgbClr val="FFFFFF"/>
                          </a:solidFill>
                          <a:latin typeface="Helvetica Neue"/>
                          <a:ea typeface="Helvetica Neue"/>
                          <a:cs typeface="Helvetica Neue"/>
                        </a:rPr>
                        <a:t>Part</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Change</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Evidence needed</a:t>
                      </a:r>
                    </a:p>
                  </a:txBody>
                  <a:tcPr marL="152400" marR="152400" marT="114300" marB="114300">
                    <a:solidFill>
                      <a:srgbClr val="173B36"/>
                    </a:solidFill>
                  </a:tcPr>
                </a:tc>
              </a:tr>
              <a:tr h="666750">
                <a:tc>
                  <a:txBody>
                    <a:bodyPr/>
                    <a:lstStyle/>
                    <a:p>
                      <a:r>
                        <a:rPr sz="1875" b="0">
                          <a:solidFill>
                            <a:srgbClr val="173B36"/>
                          </a:solidFill>
                          <a:latin typeface="Helvetica Neue"/>
                          <a:ea typeface="Helvetica Neue"/>
                          <a:cs typeface="Helvetica Neue"/>
                        </a:rPr>
                        <a:t>Fine-tuning</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LoRA on criterion decisions</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Adapter and test results</a:t>
                      </a:r>
                    </a:p>
                  </a:txBody>
                  <a:tcPr marL="152400" marR="152400" marT="114300" marB="114300">
                    <a:solidFill>
                      <a:srgbClr val="FFFFFF"/>
                    </a:solidFill>
                  </a:tcPr>
                </a:tc>
              </a:tr>
              <a:tr h="666750">
                <a:tc>
                  <a:txBody>
                    <a:bodyPr/>
                    <a:lstStyle/>
                    <a:p>
                      <a:r>
                        <a:rPr sz="1875" b="0">
                          <a:solidFill>
                            <a:srgbClr val="173B36"/>
                          </a:solidFill>
                          <a:latin typeface="Helvetica Neue"/>
                          <a:ea typeface="Helvetica Neue"/>
                          <a:cs typeface="Helvetica Neue"/>
                        </a:rPr>
                        <a:t>Course context</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Supply the approved rubric</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Response to rubric changes</a:t>
                      </a:r>
                    </a:p>
                  </a:txBody>
                  <a:tcPr marL="152400" marR="152400" marT="114300" marB="114300">
                    <a:solidFill>
                      <a:srgbClr val="E8EEEA"/>
                    </a:solidFill>
                  </a:tcPr>
                </a:tc>
              </a:tr>
              <a:tr h="666750">
                <a:tc>
                  <a:txBody>
                    <a:bodyPr/>
                    <a:lstStyle/>
                    <a:p>
                      <a:r>
                        <a:rPr sz="1875" b="0">
                          <a:solidFill>
                            <a:srgbClr val="173B36"/>
                          </a:solidFill>
                          <a:latin typeface="Helvetica Neue"/>
                          <a:ea typeface="Helvetica Neue"/>
                          <a:cs typeface="Helvetica Neue"/>
                        </a:rPr>
                        <a:t>Output checks</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Validate totals and evidence</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Invalid-output and leakage tests</a:t>
                      </a:r>
                    </a:p>
                  </a:txBody>
                  <a:tcPr marL="152400" marR="152400" marT="114300" marB="114300">
                    <a:solidFill>
                      <a:srgbClr val="FFFFFF"/>
                    </a:solidFill>
                  </a:tcPr>
                </a:tc>
              </a:tr>
              <a:tr h="666750">
                <a:tc>
                  <a:txBody>
                    <a:bodyPr/>
                    <a:lstStyle/>
                    <a:p>
                      <a:r>
                        <a:rPr sz="1875" b="0">
                          <a:solidFill>
                            <a:srgbClr val="173B36"/>
                          </a:solidFill>
                          <a:latin typeface="Helvetica Neue"/>
                          <a:ea typeface="Helvetica Neue"/>
                          <a:cs typeface="Helvetica Neue"/>
                        </a:rPr>
                        <a:t>Human review</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Route unclear work to a TA</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Source and saved decision</a:t>
                      </a:r>
                    </a:p>
                  </a:txBody>
                  <a:tcPr marL="152400" marR="152400" marT="114300" marB="114300">
                    <a:solidFill>
                      <a:srgbClr val="E8EEEA"/>
                    </a:solidFill>
                  </a:tcPr>
                </a:tc>
              </a:tr>
            </a:tbl>
          </a:graphicData>
        </a:graphic>
      </p:graphicFrame>
    </p:spTree>
    <p:extLst>
      <p:ext uri="{BB962C8B-B14F-4D97-AF65-F5344CB8AC3E}">
        <p14:creationId xmlns:p14="http://schemas.microsoft.com/office/powerpoint/2010/main" val="623037040"/>
      </p:ext>
    </p:extLst>
  </p:cSld>
</p:sld>
</file>

<file path=ppt/slides/slide5.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E00FC4-E8F8-4C86-BBF7-199EBAE09B0A}"/>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Live demonstration</a:t>
            </a:r>
          </a:p>
        </p:txBody>
      </p:sp>
      <p:sp>
        <p:nvSpPr>
          <p:cNvPr id="2" name="">
            <a:extLst xmlns:a="http://schemas.openxmlformats.org/drawingml/2006/main">
              <a:ext uri="{FF2B5EF4-FFF2-40B4-BE49-F238E27FC236}">
                <a16:creationId xmlns:a16="http://schemas.microsoft.com/office/drawing/2014/main" id="{FCC8EA95-7C1E-4C9C-8FEC-D8B15992DE3A}"/>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DE4DC"/>
                </a:solidFill>
                <a:latin typeface="Helvetica Neue"/>
                <a:ea typeface="Helvetica Neue"/>
                <a:cs typeface="Helvetica Neue"/>
              </a:defRPr>
            </a:pPr>
            <a:r>
              <a:rPr sz="1950" b="0">
                <a:solidFill>
                  <a:srgbClr val="CDE4DC"/>
                </a:solidFill>
                <a:latin typeface="Helvetica Neue"/>
                <a:ea typeface="Helvetica Neue"/>
                <a:cs typeface="Helvetica Neue"/>
              </a:rPr>
              <a:t>A student draft, a revision, and the TA’s view</a:t>
            </a:r>
          </a:p>
        </p:txBody>
      </p:sp>
      <p:sp>
        <p:nvSpPr>
          <p:cNvPr id="3" name="">
            <a:extLst xmlns:a="http://schemas.openxmlformats.org/drawingml/2006/main">
              <a:ext uri="{FF2B5EF4-FFF2-40B4-BE49-F238E27FC236}">
                <a16:creationId xmlns:a16="http://schemas.microsoft.com/office/drawing/2014/main" id="{A05A466C-AE5B-443D-B268-D4A3989F01FB}"/>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DE4DC"/>
                </a:solidFill>
                <a:latin typeface="Helvetica Neue"/>
                <a:ea typeface="Helvetica Neue"/>
                <a:cs typeface="Helvetica Neue"/>
              </a:defRPr>
            </a:pPr>
            <a:r>
              <a:rPr sz="1350" b="0">
                <a:solidFill>
                  <a:srgbClr val="CDE4DC"/>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5864B101-FBB8-459E-8901-0C73A81C686D}"/>
              </a:ext>
            </a:extLst>
          </p:cNvPr>
          <p:cNvSpPr>
            <a:spLocks xmlns:a="http://schemas.openxmlformats.org/drawingml/2006/main" noGrp="1"/>
          </p:cNvSpPr>
          <p:nvPr/>
        </p:nvSpPr>
        <p:spPr>
          <a:xfrm xmlns:a="http://schemas.openxmlformats.org/drawingml/2006/main">
            <a:off x="685800" y="23812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01   Inspect the instructor’s rubric</a:t>
            </a:r>
          </a:p>
        </p:txBody>
      </p:sp>
      <p:sp>
        <p:nvSpPr>
          <p:cNvPr id="5" name="">
            <a:extLst xmlns:a="http://schemas.openxmlformats.org/drawingml/2006/main">
              <a:ext uri="{FF2B5EF4-FFF2-40B4-BE49-F238E27FC236}">
                <a16:creationId xmlns:a16="http://schemas.microsoft.com/office/drawing/2014/main" id="{F98EBB61-7801-4CDC-997A-47C8F0D58214}"/>
              </a:ext>
            </a:extLst>
          </p:cNvPr>
          <p:cNvSpPr>
            <a:spLocks xmlns:a="http://schemas.openxmlformats.org/drawingml/2006/main" noGrp="1"/>
          </p:cNvSpPr>
          <p:nvPr/>
        </p:nvSpPr>
        <p:spPr>
          <a:xfrm xmlns:a="http://schemas.openxmlformats.org/drawingml/2006/main">
            <a:off x="685800" y="32099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02   Assess the fictional draft</a:t>
            </a:r>
          </a:p>
        </p:txBody>
      </p:sp>
      <p:sp>
        <p:nvSpPr>
          <p:cNvPr id="6" name="">
            <a:extLst xmlns:a="http://schemas.openxmlformats.org/drawingml/2006/main">
              <a:ext uri="{FF2B5EF4-FFF2-40B4-BE49-F238E27FC236}">
                <a16:creationId xmlns:a16="http://schemas.microsoft.com/office/drawing/2014/main" id="{D1F5DE4E-B6E8-4098-BD37-A7FF9F156B66}"/>
              </a:ext>
            </a:extLst>
          </p:cNvPr>
          <p:cNvSpPr>
            <a:spLocks xmlns:a="http://schemas.openxmlformats.org/drawingml/2006/main" noGrp="1"/>
          </p:cNvSpPr>
          <p:nvPr/>
        </p:nvSpPr>
        <p:spPr>
          <a:xfrm xmlns:a="http://schemas.openxmlformats.org/drawingml/2006/main">
            <a:off x="685800" y="40386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03   Revise and review the evidence</a:t>
            </a:r>
          </a:p>
        </p:txBody>
      </p:sp>
      <p:sp>
        <p:nvSpPr>
          <p:cNvPr id="7" name="">
            <a:extLst xmlns:a="http://schemas.openxmlformats.org/drawingml/2006/main">
              <a:ext uri="{FF2B5EF4-FFF2-40B4-BE49-F238E27FC236}">
                <a16:creationId xmlns:a16="http://schemas.microsoft.com/office/drawing/2014/main" id="{15752358-30EA-4012-A899-839FF4CF2E4B}"/>
              </a:ext>
            </a:extLst>
          </p:cNvPr>
          <p:cNvSpPr>
            <a:spLocks xmlns:a="http://schemas.openxmlformats.org/drawingml/2006/main" noGrp="1"/>
          </p:cNvSpPr>
          <p:nvPr/>
        </p:nvSpPr>
        <p:spPr>
          <a:xfrm xmlns:a="http://schemas.openxmlformats.org/drawingml/2006/main">
            <a:off x="685800" y="54768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DE4DC"/>
                </a:solidFill>
                <a:latin typeface="Helvetica Neue"/>
                <a:ea typeface="Helvetica Neue"/>
                <a:cs typeface="Helvetica Neue"/>
              </a:defRPr>
            </a:pPr>
            <a:r>
              <a:rPr sz="1950" b="0">
                <a:solidFill>
                  <a:srgbClr val="CDE4DC"/>
                </a:solidFill>
                <a:latin typeface="Helvetica Neue"/>
                <a:ea typeface="Helvetica Neue"/>
                <a:cs typeface="Helvetica Neue"/>
              </a:rPr>
              <a:t>Expected behavior is visible in the example labels. The live run decides what happens.</a:t>
            </a:r>
          </a:p>
        </p:txBody>
      </p:sp>
    </p:spTree>
    <p:extLst>
      <p:ext uri="{BB962C8B-B14F-4D97-AF65-F5344CB8AC3E}">
        <p14:creationId xmlns:p14="http://schemas.microsoft.com/office/powerpoint/2010/main" val="1736143385"/>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0EB02E-E59F-477E-80EE-D390AB590AAC}"/>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DFFACCFD-F1FA-457D-B448-EE51F05E02D7}"/>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Same inputs and rubric. Base model compared with the trained adapter.</a:t>
            </a:r>
          </a:p>
        </p:txBody>
      </p:sp>
      <p:sp>
        <p:nvSpPr>
          <p:cNvPr id="3" name="">
            <a:extLst xmlns:a="http://schemas.openxmlformats.org/drawingml/2006/main">
              <a:ext uri="{FF2B5EF4-FFF2-40B4-BE49-F238E27FC236}">
                <a16:creationId xmlns:a16="http://schemas.microsoft.com/office/drawing/2014/main" id="{AB18C33F-4FA7-4BFD-B063-DC0C66C475BA}"/>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06</a:t>
            </a:r>
          </a:p>
        </p:txBody>
      </p:sp>
      <p:graphicFrame>
        <p:nvGraphicFramePr>
          <p:cNvPr id="9" name=""/>
          <p:cNvGraphicFramePr/>
          <p:nvPr/>
        </p:nvGraphicFramePr>
        <p:xfrm>
          <a:off xmlns:a="http://schemas.openxmlformats.org/drawingml/2006/main" x="685800" y="2171700"/>
          <a:ext xmlns:a="http://schemas.openxmlformats.org/drawingml/2006/main" cx="10820400" cy="3095625"/>
        </p:xfrm>
        <a:graphic xmlns:a="http://schemas.openxmlformats.org/drawingml/2006/main">
          <a:graphicData uri="http://schemas.openxmlformats.org/drawingml/2006/table">
            <a:tbl>
              <a:tblPr/>
              <a:tblGrid>
                <a:gridCol w="5410200"/>
                <a:gridCol w="2705100"/>
                <a:gridCol w="2705100"/>
              </a:tblGrid>
              <a:tr h="619125">
                <a:tc>
                  <a:txBody>
                    <a:bodyPr/>
                    <a:lstStyle/>
                    <a:p>
                      <a:r>
                        <a:rPr sz="1800" b="1">
                          <a:solidFill>
                            <a:srgbClr val="FFFFFF"/>
                          </a:solidFill>
                          <a:latin typeface="Helvetica Neue"/>
                          <a:ea typeface="Helvetica Neue"/>
                          <a:cs typeface="Helvetica Neue"/>
                        </a:rPr>
                        <a:t>Metric</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Base model</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With adapter</a:t>
                      </a:r>
                    </a:p>
                  </a:txBody>
                  <a:tcPr marL="152400" marR="152400" marT="114300" marB="114300">
                    <a:solidFill>
                      <a:srgbClr val="173B36"/>
                    </a:solidFill>
                  </a:tcPr>
                </a:tc>
              </a:tr>
              <a:tr h="619125">
                <a:tc>
                  <a:txBody>
                    <a:bodyPr/>
                    <a:lstStyle/>
                    <a:p>
                      <a:r>
                        <a:rPr sz="1875" b="0">
                          <a:solidFill>
                            <a:srgbClr val="173B36"/>
                          </a:solidFill>
                          <a:latin typeface="Helvetica Neue"/>
                          <a:ea typeface="Helvetica Neue"/>
                          <a:cs typeface="Helvetica Neue"/>
                        </a:rPr>
                        <a:t>Rubric decisions correct</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FFFFFF"/>
                    </a:solidFill>
                  </a:tcPr>
                </a:tc>
              </a:tr>
              <a:tr h="619125">
                <a:tc>
                  <a:txBody>
                    <a:bodyPr/>
                    <a:lstStyle/>
                    <a:p>
                      <a:r>
                        <a:rPr sz="1875" b="0">
                          <a:solidFill>
                            <a:srgbClr val="173B36"/>
                          </a:solidFill>
                          <a:latin typeface="Helvetica Neue"/>
                          <a:ea typeface="Helvetica Neue"/>
                          <a:cs typeface="Helvetica Neue"/>
                        </a:rPr>
                        <a:t>False flags on valid work</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E8EEEA"/>
                    </a:solidFill>
                  </a:tcPr>
                </a:tc>
              </a:tr>
              <a:tr h="619125">
                <a:tc>
                  <a:txBody>
                    <a:bodyPr/>
                    <a:lstStyle/>
                    <a:p>
                      <a:r>
                        <a:rPr sz="1875" b="0">
                          <a:solidFill>
                            <a:srgbClr val="173B36"/>
                          </a:solidFill>
                          <a:latin typeface="Helvetica Neue"/>
                          <a:ea typeface="Helvetica Neue"/>
                          <a:cs typeface="Helvetica Neue"/>
                        </a:rPr>
                        <a:t>Missed seeded errors</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FFFFFF"/>
                    </a:solidFill>
                  </a:tcPr>
                </a:tc>
              </a:tr>
              <a:tr h="619125">
                <a:tc>
                  <a:txBody>
                    <a:bodyPr/>
                    <a:lstStyle/>
                    <a:p>
                      <a:r>
                        <a:rPr sz="1875" b="0">
                          <a:solidFill>
                            <a:srgbClr val="173B36"/>
                          </a:solidFill>
                          <a:latin typeface="Helvetica Neue"/>
                          <a:ea typeface="Helvetica Neue"/>
                          <a:cs typeface="Helvetica Neue"/>
                        </a:rPr>
                        <a:t>Answer leakage in raw output</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Not run</a:t>
                      </a:r>
                    </a:p>
                  </a:txBody>
                  <a:tcPr marL="152400" marR="152400" marT="114300" marB="114300">
                    <a:solidFill>
                      <a:srgbClr val="E8EEEA"/>
                    </a:solidFill>
                  </a:tcPr>
                </a:tc>
              </a:tr>
            </a:tbl>
          </a:graphicData>
        </a:graphic>
      </p:graphicFrame>
      <p:sp>
        <p:nvSpPr>
          <p:cNvPr id="5" name="">
            <a:extLst xmlns:a="http://schemas.openxmlformats.org/drawingml/2006/main">
              <a:ext uri="{FF2B5EF4-FFF2-40B4-BE49-F238E27FC236}">
                <a16:creationId xmlns:a16="http://schemas.microsoft.com/office/drawing/2014/main" id="{A7404DD1-E9A7-4A0E-BB5F-2B0B0975B99D}"/>
              </a:ext>
            </a:extLst>
          </p:cNvPr>
          <p:cNvSpPr>
            <a:spLocks xmlns:a="http://schemas.openxmlformats.org/drawingml/2006/main" noGrp="1"/>
          </p:cNvSpPr>
          <p:nvPr/>
        </p:nvSpPr>
        <p:spPr>
          <a:xfrm xmlns:a="http://schemas.openxmlformats.org/drawingml/2006/main">
            <a:off x="685800" y="56388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5025"/>
                </a:solidFill>
                <a:latin typeface="Helvetica Neue"/>
                <a:ea typeface="Helvetica Neue"/>
                <a:cs typeface="Helvetica Neue"/>
              </a:defRPr>
            </a:pPr>
            <a:r>
              <a:rPr sz="1875" b="0">
                <a:solidFill>
                  <a:srgbClr val="A45025"/>
                </a:solidFill>
                <a:latin typeface="Helvetica Neue"/>
                <a:ea typeface="Helvetica Neue"/>
                <a:cs typeface="Helvetica Neue"/>
              </a:rPr>
              <a:t>Held-out problems by family. Show counts and denominators. No improvement claim yet.</a:t>
            </a:r>
          </a:p>
        </p:txBody>
      </p:sp>
    </p:spTree>
    <p:extLst>
      <p:ext uri="{BB962C8B-B14F-4D97-AF65-F5344CB8AC3E}">
        <p14:creationId xmlns:p14="http://schemas.microsoft.com/office/powerpoint/2010/main" val="1148029451"/>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BA5442-813A-4C24-98D9-0EA577C3A0A2}"/>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Remaining limitations</a:t>
            </a:r>
          </a:p>
        </p:txBody>
      </p:sp>
      <p:sp>
        <p:nvSpPr>
          <p:cNvPr id="2" name="">
            <a:extLst xmlns:a="http://schemas.openxmlformats.org/drawingml/2006/main">
              <a:ext uri="{FF2B5EF4-FFF2-40B4-BE49-F238E27FC236}">
                <a16:creationId xmlns:a16="http://schemas.microsoft.com/office/drawing/2014/main" id="{E2C7FF0A-C355-4574-8436-AB5416AC5827}"/>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Each mitigation needs its own test</a:t>
            </a:r>
          </a:p>
        </p:txBody>
      </p:sp>
      <p:sp>
        <p:nvSpPr>
          <p:cNvPr id="3" name="">
            <a:extLst xmlns:a="http://schemas.openxmlformats.org/drawingml/2006/main">
              <a:ext uri="{FF2B5EF4-FFF2-40B4-BE49-F238E27FC236}">
                <a16:creationId xmlns:a16="http://schemas.microsoft.com/office/drawing/2014/main" id="{3D85DB5F-5950-48BC-80E4-B438E2B6FC8A}"/>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07</a:t>
            </a:r>
          </a:p>
        </p:txBody>
      </p:sp>
      <p:graphicFrame>
        <p:nvGraphicFramePr>
          <p:cNvPr id="8" name=""/>
          <p:cNvGraphicFramePr/>
          <p:nvPr/>
        </p:nvGraphicFramePr>
        <p:xfrm>
          <a:off xmlns:a="http://schemas.openxmlformats.org/drawingml/2006/main" x="685800" y="2143125"/>
          <a:ext xmlns:a="http://schemas.openxmlformats.org/drawingml/2006/main" cx="10820400" cy="3476625"/>
        </p:xfrm>
        <a:graphic xmlns:a="http://schemas.openxmlformats.org/drawingml/2006/main">
          <a:graphicData uri="http://schemas.openxmlformats.org/drawingml/2006/table">
            <a:tbl>
              <a:tblPr/>
              <a:tblGrid>
                <a:gridCol w="3133725"/>
                <a:gridCol w="3476625"/>
                <a:gridCol w="4210050"/>
              </a:tblGrid>
              <a:tr h="695325">
                <a:tc>
                  <a:txBody>
                    <a:bodyPr/>
                    <a:lstStyle/>
                    <a:p>
                      <a:r>
                        <a:rPr sz="1725" b="1">
                          <a:solidFill>
                            <a:srgbClr val="FFFFFF"/>
                          </a:solidFill>
                          <a:latin typeface="Helvetica Neue"/>
                          <a:ea typeface="Helvetica Neue"/>
                          <a:cs typeface="Helvetica Neue"/>
                        </a:rPr>
                        <a:t>Limitation</a:t>
                      </a:r>
                    </a:p>
                  </a:txBody>
                  <a:tcPr marL="152400" marR="152400" marT="114300" marB="114300">
                    <a:solidFill>
                      <a:srgbClr val="173B36"/>
                    </a:solidFill>
                  </a:tcPr>
                </a:tc>
                <a:tc>
                  <a:txBody>
                    <a:bodyPr/>
                    <a:lstStyle/>
                    <a:p>
                      <a:r>
                        <a:rPr sz="1725" b="1">
                          <a:solidFill>
                            <a:srgbClr val="FFFFFF"/>
                          </a:solidFill>
                          <a:latin typeface="Helvetica Neue"/>
                          <a:ea typeface="Helvetica Neue"/>
                          <a:cs typeface="Helvetica Neue"/>
                        </a:rPr>
                        <a:t>Proposed response</a:t>
                      </a:r>
                    </a:p>
                  </a:txBody>
                  <a:tcPr marL="152400" marR="152400" marT="114300" marB="114300">
                    <a:solidFill>
                      <a:srgbClr val="173B36"/>
                    </a:solidFill>
                  </a:tcPr>
                </a:tc>
                <a:tc>
                  <a:txBody>
                    <a:bodyPr/>
                    <a:lstStyle/>
                    <a:p>
                      <a:r>
                        <a:rPr sz="1725" b="1">
                          <a:solidFill>
                            <a:srgbClr val="FFFFFF"/>
                          </a:solidFill>
                          <a:latin typeface="Helvetica Neue"/>
                          <a:ea typeface="Helvetica Neue"/>
                          <a:cs typeface="Helvetica Neue"/>
                        </a:rPr>
                        <a:t>What still needs evidence</a:t>
                      </a:r>
                    </a:p>
                  </a:txBody>
                  <a:tcPr marL="152400" marR="152400" marT="114300" marB="114300">
                    <a:solidFill>
                      <a:srgbClr val="173B36"/>
                    </a:solidFill>
                  </a:tcPr>
                </a:tc>
              </a:tr>
              <a:tr h="695325">
                <a:tc>
                  <a:txBody>
                    <a:bodyPr/>
                    <a:lstStyle/>
                    <a:p>
                      <a:r>
                        <a:rPr sz="1800" b="0">
                          <a:solidFill>
                            <a:srgbClr val="173B36"/>
                          </a:solidFill>
                          <a:latin typeface="Helvetica Neue"/>
                          <a:ea typeface="Helvetica Neue"/>
                          <a:cs typeface="Helvetica Neue"/>
                        </a:rPr>
                        <a:t>Handwriting can be misread</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Refer unclear work to a TA</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Reliability on real handwriting</a:t>
                      </a:r>
                    </a:p>
                  </a:txBody>
                  <a:tcPr marL="152400" marR="152400" marT="114300" marB="114300">
                    <a:solidFill>
                      <a:srgbClr val="FFFFFF"/>
                    </a:solidFill>
                  </a:tcPr>
                </a:tc>
              </a:tr>
              <a:tr h="695325">
                <a:tc>
                  <a:txBody>
                    <a:bodyPr/>
                    <a:lstStyle/>
                    <a:p>
                      <a:r>
                        <a:rPr sz="1800" b="0">
                          <a:solidFill>
                            <a:srgbClr val="173B36"/>
                          </a:solidFill>
                          <a:latin typeface="Helvetica Neue"/>
                          <a:ea typeface="Helvetica Neue"/>
                          <a:cs typeface="Helvetica Neue"/>
                        </a:rPr>
                        <a:t>Synthetic labels can be wrong</a:t>
                      </a:r>
                    </a:p>
                  </a:txBody>
                  <a:tcPr marL="152400" marR="152400" marT="114300" marB="114300">
                    <a:solidFill>
                      <a:srgbClr val="E8EEEA"/>
                    </a:solidFill>
                  </a:tcPr>
                </a:tc>
                <a:tc>
                  <a:txBody>
                    <a:bodyPr/>
                    <a:lstStyle/>
                    <a:p>
                      <a:r>
                        <a:rPr sz="1800" b="0">
                          <a:solidFill>
                            <a:srgbClr val="173B36"/>
                          </a:solidFill>
                          <a:latin typeface="Helvetica Neue"/>
                          <a:ea typeface="Helvetica Neue"/>
                          <a:cs typeface="Helvetica Neue"/>
                        </a:rPr>
                        <a:t>Review labels and the math</a:t>
                      </a:r>
                    </a:p>
                  </a:txBody>
                  <a:tcPr marL="152400" marR="152400" marT="114300" marB="114300">
                    <a:solidFill>
                      <a:srgbClr val="E8EEEA"/>
                    </a:solidFill>
                  </a:tcPr>
                </a:tc>
                <a:tc>
                  <a:txBody>
                    <a:bodyPr/>
                    <a:lstStyle/>
                    <a:p>
                      <a:r>
                        <a:rPr sz="1800" b="0">
                          <a:solidFill>
                            <a:srgbClr val="173B36"/>
                          </a:solidFill>
                          <a:latin typeface="Helvetica Neue"/>
                          <a:ea typeface="Helvetica Neue"/>
                          <a:cs typeface="Helvetica Neue"/>
                        </a:rPr>
                        <a:t>Instructor agreement</a:t>
                      </a:r>
                    </a:p>
                  </a:txBody>
                  <a:tcPr marL="152400" marR="152400" marT="114300" marB="114300">
                    <a:solidFill>
                      <a:srgbClr val="E8EEEA"/>
                    </a:solidFill>
                  </a:tcPr>
                </a:tc>
              </a:tr>
              <a:tr h="695325">
                <a:tc>
                  <a:txBody>
                    <a:bodyPr/>
                    <a:lstStyle/>
                    <a:p>
                      <a:r>
                        <a:rPr sz="1800" b="0">
                          <a:solidFill>
                            <a:srgbClr val="173B36"/>
                          </a:solidFill>
                          <a:latin typeface="Helvetica Neue"/>
                          <a:ea typeface="Helvetica Neue"/>
                          <a:cs typeface="Helvetica Neue"/>
                        </a:rPr>
                        <a:t>New topics can differ</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Hold out problem families</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Transfer to other courses</a:t>
                      </a:r>
                    </a:p>
                  </a:txBody>
                  <a:tcPr marL="152400" marR="152400" marT="114300" marB="114300">
                    <a:solidFill>
                      <a:srgbClr val="FFFFFF"/>
                    </a:solidFill>
                  </a:tcPr>
                </a:tc>
              </a:tr>
              <a:tr h="695325">
                <a:tc>
                  <a:txBody>
                    <a:bodyPr/>
                    <a:lstStyle/>
                    <a:p>
                      <a:r>
                        <a:rPr sz="1800" b="0">
                          <a:solidFill>
                            <a:srgbClr val="173B36"/>
                          </a:solidFill>
                          <a:latin typeface="Helvetica Neue"/>
                          <a:ea typeface="Helvetica Neue"/>
                          <a:cs typeface="Helvetica Neue"/>
                        </a:rPr>
                        <a:t>A better score can hide a gap</a:t>
                      </a:r>
                    </a:p>
                  </a:txBody>
                  <a:tcPr marL="152400" marR="152400" marT="114300" marB="114300">
                    <a:solidFill>
                      <a:srgbClr val="E8EEEA"/>
                    </a:solidFill>
                  </a:tcPr>
                </a:tc>
                <a:tc>
                  <a:txBody>
                    <a:bodyPr/>
                    <a:lstStyle/>
                    <a:p>
                      <a:r>
                        <a:rPr sz="1800" b="0">
                          <a:solidFill>
                            <a:srgbClr val="173B36"/>
                          </a:solidFill>
                          <a:latin typeface="Helvetica Neue"/>
                          <a:ea typeface="Helvetica Neue"/>
                          <a:cs typeface="Helvetica Neue"/>
                        </a:rPr>
                        <a:t>Test learning separately</a:t>
                      </a:r>
                    </a:p>
                  </a:txBody>
                  <a:tcPr marL="152400" marR="152400" marT="114300" marB="114300">
                    <a:solidFill>
                      <a:srgbClr val="E8EEEA"/>
                    </a:solidFill>
                  </a:tcPr>
                </a:tc>
                <a:tc>
                  <a:txBody>
                    <a:bodyPr/>
                    <a:lstStyle/>
                    <a:p>
                      <a:r>
                        <a:rPr sz="1800" b="0">
                          <a:solidFill>
                            <a:srgbClr val="173B36"/>
                          </a:solidFill>
                          <a:latin typeface="Helvetica Neue"/>
                          <a:ea typeface="Helvetica Neue"/>
                          <a:cs typeface="Helvetica Neue"/>
                        </a:rPr>
                        <a:t>Student learning outcomes</a:t>
                      </a:r>
                    </a:p>
                  </a:txBody>
                  <a:tcPr marL="152400" marR="152400" marT="114300" marB="114300">
                    <a:solidFill>
                      <a:srgbClr val="E8EEEA"/>
                    </a:solidFill>
                  </a:tcPr>
                </a:tc>
              </a:tr>
            </a:tbl>
          </a:graphicData>
        </a:graphic>
      </p:graphicFrame>
    </p:spTree>
    <p:extLst>
      <p:ext uri="{BB962C8B-B14F-4D97-AF65-F5344CB8AC3E}">
        <p14:creationId xmlns:p14="http://schemas.microsoft.com/office/powerpoint/2010/main" val="1253417426"/>
      </p:ext>
    </p:extLst>
  </p:cSld>
</p:sld>
</file>

<file path=ppt/slides/slide8.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606546-3DC7-4453-88BD-B1196F05D53F}"/>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A first course pilot</a:t>
            </a:r>
          </a:p>
        </p:txBody>
      </p:sp>
      <p:sp>
        <p:nvSpPr>
          <p:cNvPr id="2" name="">
            <a:extLst xmlns:a="http://schemas.openxmlformats.org/drawingml/2006/main">
              <a:ext uri="{FF2B5EF4-FFF2-40B4-BE49-F238E27FC236}">
                <a16:creationId xmlns:a16="http://schemas.microsoft.com/office/drawing/2014/main" id="{B94DC472-709A-4AAF-8C19-A3688DAB6944}"/>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DE4DC"/>
                </a:solidFill>
                <a:latin typeface="Helvetica Neue"/>
                <a:ea typeface="Helvetica Neue"/>
                <a:cs typeface="Helvetica Neue"/>
              </a:defRPr>
            </a:pPr>
            <a:r>
              <a:rPr sz="1950" b="0">
                <a:solidFill>
                  <a:srgbClr val="CDE4DC"/>
                </a:solidFill>
                <a:latin typeface="Helvetica Neue"/>
                <a:ea typeface="Helvetica Neue"/>
                <a:cs typeface="Helvetica Neue"/>
              </a:rPr>
              <a:t>One instructor-approved practice assignment</a:t>
            </a:r>
          </a:p>
        </p:txBody>
      </p:sp>
      <p:sp>
        <p:nvSpPr>
          <p:cNvPr id="3" name="">
            <a:extLst xmlns:a="http://schemas.openxmlformats.org/drawingml/2006/main">
              <a:ext uri="{FF2B5EF4-FFF2-40B4-BE49-F238E27FC236}">
                <a16:creationId xmlns:a16="http://schemas.microsoft.com/office/drawing/2014/main" id="{4ACBB2A0-1B22-44DC-8DD9-831C1BFB40F7}"/>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DE4DC"/>
                </a:solidFill>
                <a:latin typeface="Helvetica Neue"/>
                <a:ea typeface="Helvetica Neue"/>
                <a:cs typeface="Helvetica Neue"/>
              </a:defRPr>
            </a:pPr>
            <a:r>
              <a:rPr sz="1350" b="0">
                <a:solidFill>
                  <a:srgbClr val="CDE4DC"/>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9F963B4-DDA5-45DA-B828-BEE7EFB97CF7}"/>
              </a:ext>
            </a:extLst>
          </p:cNvPr>
          <p:cNvSpPr>
            <a:spLocks xmlns:a="http://schemas.openxmlformats.org/drawingml/2006/main" noGrp="1"/>
          </p:cNvSpPr>
          <p:nvPr/>
        </p:nvSpPr>
        <p:spPr>
          <a:xfrm xmlns:a="http://schemas.openxmlformats.org/drawingml/2006/main">
            <a:off x="685800" y="2524125"/>
            <a:ext cx="104775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Useful feedback while</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there’s time to revise</a:t>
            </a:r>
          </a:p>
        </p:txBody>
      </p:sp>
      <p:sp>
        <p:nvSpPr>
          <p:cNvPr id="5" name="">
            <a:extLst xmlns:a="http://schemas.openxmlformats.org/drawingml/2006/main">
              <a:ext uri="{FF2B5EF4-FFF2-40B4-BE49-F238E27FC236}">
                <a16:creationId xmlns:a16="http://schemas.microsoft.com/office/drawing/2014/main" id="{8B07AF78-2063-46B8-B95D-93A3BBC4AC5B}"/>
              </a:ext>
            </a:extLst>
          </p:cNvPr>
          <p:cNvSpPr>
            <a:spLocks xmlns:a="http://schemas.openxmlformats.org/drawingml/2006/main" noGrp="1"/>
          </p:cNvSpPr>
          <p:nvPr/>
        </p:nvSpPr>
        <p:spPr>
          <a:xfrm xmlns:a="http://schemas.openxmlformats.org/drawingml/2006/main">
            <a:off x="685800" y="46863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DE4DC"/>
                </a:solidFill>
                <a:latin typeface="Helvetica Neue"/>
                <a:ea typeface="Helvetica Neue"/>
                <a:cs typeface="Helvetica Neue"/>
              </a:defRPr>
            </a:pPr>
            <a:r>
              <a:rPr sz="2175" b="0">
                <a:solidFill>
                  <a:srgbClr val="CDE4DC"/>
                </a:solidFill>
                <a:latin typeface="Helvetica Neue"/>
                <a:ea typeface="Helvetica Neue"/>
                <a:cs typeface="Helvetica Neue"/>
              </a:rPr>
              <a:t>Would an instructor enable it?</a:t>
            </a:r>
          </a:p>
          <a:p xmlns:a="http://schemas.openxmlformats.org/drawingml/2006/main">
            <a:pPr>
              <a:defRPr sz="2175" b="0">
                <a:solidFill>
                  <a:srgbClr val="CDE4DC"/>
                </a:solidFill>
                <a:latin typeface="Helvetica Neue"/>
                <a:ea typeface="Helvetica Neue"/>
                <a:cs typeface="Helvetica Neue"/>
              </a:defRPr>
            </a:pPr>
            <a:r>
              <a:rPr sz="2175" b="0">
                <a:solidFill>
                  <a:srgbClr val="CDE4DC"/>
                </a:solidFill>
                <a:latin typeface="Helvetica Neue"/>
                <a:ea typeface="Helvetica Neue"/>
                <a:cs typeface="Helvetica Neue"/>
              </a:rPr>
              <a:t>Can students use the hint without receiving the answer?</a:t>
            </a:r>
          </a:p>
        </p:txBody>
      </p:sp>
    </p:spTree>
    <p:extLst>
      <p:ext uri="{BB962C8B-B14F-4D97-AF65-F5344CB8AC3E}">
        <p14:creationId xmlns:p14="http://schemas.microsoft.com/office/powerpoint/2010/main" val="2011933681"/>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4FA7AA-9484-4D75-94EA-D547B72FB79C}"/>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Appendix: example record</a:t>
            </a:r>
          </a:p>
        </p:txBody>
      </p:sp>
      <p:sp>
        <p:nvSpPr>
          <p:cNvPr id="2" name="">
            <a:extLst xmlns:a="http://schemas.openxmlformats.org/drawingml/2006/main">
              <a:ext uri="{FF2B5EF4-FFF2-40B4-BE49-F238E27FC236}">
                <a16:creationId xmlns:a16="http://schemas.microsoft.com/office/drawing/2014/main" id="{64967ADF-FF68-4DCB-88E3-B21FC5C8B77C}"/>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Illustration D01. Expected target, not an inference result.</a:t>
            </a:r>
          </a:p>
        </p:txBody>
      </p:sp>
      <p:sp>
        <p:nvSpPr>
          <p:cNvPr id="3" name="">
            <a:extLst xmlns:a="http://schemas.openxmlformats.org/drawingml/2006/main">
              <a:ext uri="{FF2B5EF4-FFF2-40B4-BE49-F238E27FC236}">
                <a16:creationId xmlns:a16="http://schemas.microsoft.com/office/drawing/2014/main" id="{E1A37015-51BC-4969-91D8-1F1C9E024FAE}"/>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09</a:t>
            </a:r>
          </a:p>
        </p:txBody>
      </p:sp>
      <p:graphicFrame>
        <p:nvGraphicFramePr>
          <p:cNvPr id="8" name=""/>
          <p:cNvGraphicFramePr/>
          <p:nvPr/>
        </p:nvGraphicFramePr>
        <p:xfrm>
          <a:off xmlns:a="http://schemas.openxmlformats.org/drawingml/2006/main" x="685800" y="2114550"/>
          <a:ext xmlns:a="http://schemas.openxmlformats.org/drawingml/2006/main" cx="10820400" cy="3771900"/>
        </p:xfrm>
        <a:graphic xmlns:a="http://schemas.openxmlformats.org/drawingml/2006/main">
          <a:graphicData uri="http://schemas.openxmlformats.org/drawingml/2006/table">
            <a:tbl>
              <a:tblPr/>
              <a:tblGrid>
                <a:gridCol w="2876550"/>
                <a:gridCol w="7943850"/>
              </a:tblGrid>
              <a:tr h="628650">
                <a:tc>
                  <a:txBody>
                    <a:bodyPr/>
                    <a:lstStyle/>
                    <a:p>
                      <a:r>
                        <a:rPr sz="1800" b="1">
                          <a:solidFill>
                            <a:srgbClr val="FFFFFF"/>
                          </a:solidFill>
                          <a:latin typeface="Helvetica Neue"/>
                          <a:ea typeface="Helvetica Neue"/>
                          <a:cs typeface="Helvetica Neue"/>
                        </a:rPr>
                        <a:t>Field</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Value</a:t>
                      </a:r>
                    </a:p>
                  </a:txBody>
                  <a:tcPr marL="152400" marR="152400" marT="114300" marB="114300">
                    <a:solidFill>
                      <a:srgbClr val="173B36"/>
                    </a:solidFill>
                  </a:tcPr>
                </a:tc>
              </a:tr>
              <a:tr h="628650">
                <a:tc>
                  <a:txBody>
                    <a:bodyPr/>
                    <a:lstStyle/>
                    <a:p>
                      <a:r>
                        <a:rPr sz="1875" b="0">
                          <a:solidFill>
                            <a:srgbClr val="173B36"/>
                          </a:solidFill>
                          <a:latin typeface="Helvetica Neue"/>
                          <a:ea typeface="Helvetica Neue"/>
                          <a:cs typeface="Helvetica Neue"/>
                        </a:rPr>
                        <a:t>Problem</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x + y = 5, x − y = 1</a:t>
                      </a:r>
                    </a:p>
                  </a:txBody>
                  <a:tcPr marL="152400" marR="152400" marT="114300" marB="114300">
                    <a:solidFill>
                      <a:srgbClr val="FFFFFF"/>
                    </a:solidFill>
                  </a:tcPr>
                </a:tc>
              </a:tr>
              <a:tr h="628650">
                <a:tc>
                  <a:txBody>
                    <a:bodyPr/>
                    <a:lstStyle/>
                    <a:p>
                      <a:r>
                        <a:rPr sz="1875" b="0">
                          <a:solidFill>
                            <a:srgbClr val="173B36"/>
                          </a:solidFill>
                          <a:latin typeface="Helvetica Neue"/>
                          <a:ea typeface="Helvetica Neue"/>
                          <a:cs typeface="Helvetica Neue"/>
                        </a:rPr>
                        <a:t>Rubric</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Correct x (1), correct y (1), valid derivation (2)</a:t>
                      </a:r>
                    </a:p>
                  </a:txBody>
                  <a:tcPr marL="152400" marR="152400" marT="114300" marB="114300">
                    <a:solidFill>
                      <a:srgbClr val="E8EEEA"/>
                    </a:solidFill>
                  </a:tcPr>
                </a:tc>
              </a:tr>
              <a:tr h="628650">
                <a:tc>
                  <a:txBody>
                    <a:bodyPr/>
                    <a:lstStyle/>
                    <a:p>
                      <a:r>
                        <a:rPr sz="1875" b="0">
                          <a:solidFill>
                            <a:srgbClr val="173B36"/>
                          </a:solidFill>
                          <a:latin typeface="Helvetica Neue"/>
                          <a:ea typeface="Helvetica Neue"/>
                          <a:cs typeface="Helvetica Neue"/>
                        </a:rPr>
                        <a:t>Student evidence</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x = 3, y = 2</a:t>
                      </a:r>
                    </a:p>
                  </a:txBody>
                  <a:tcPr marL="152400" marR="152400" marT="114300" marB="114300">
                    <a:solidFill>
                      <a:srgbClr val="FFFFFF"/>
                    </a:solidFill>
                  </a:tcPr>
                </a:tc>
              </a:tr>
              <a:tr h="628650">
                <a:tc>
                  <a:txBody>
                    <a:bodyPr/>
                    <a:lstStyle/>
                    <a:p>
                      <a:r>
                        <a:rPr sz="1875" b="0">
                          <a:solidFill>
                            <a:srgbClr val="173B36"/>
                          </a:solidFill>
                          <a:latin typeface="Helvetica Neue"/>
                          <a:ea typeface="Helvetica Neue"/>
                          <a:cs typeface="Helvetica Neue"/>
                        </a:rPr>
                        <a:t>Expected decision</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C1 met, C2 met, C3 unmet. Total 2 / 4</a:t>
                      </a:r>
                    </a:p>
                  </a:txBody>
                  <a:tcPr marL="152400" marR="152400" marT="114300" marB="114300">
                    <a:solidFill>
                      <a:srgbClr val="E8EEEA"/>
                    </a:solidFill>
                  </a:tcPr>
                </a:tc>
              </a:tr>
              <a:tr h="628650">
                <a:tc>
                  <a:txBody>
                    <a:bodyPr/>
                    <a:lstStyle/>
                    <a:p>
                      <a:r>
                        <a:rPr sz="1875" b="0">
                          <a:solidFill>
                            <a:srgbClr val="173B36"/>
                          </a:solidFill>
                          <a:latin typeface="Helvetica Neue"/>
                          <a:ea typeface="Helvetica Neue"/>
                          <a:cs typeface="Helvetica Neue"/>
                        </a:rPr>
                        <a:t>Student hint</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Show the reasoning behind your final values.</a:t>
                      </a:r>
                    </a:p>
                  </a:txBody>
                  <a:tcPr marL="152400" marR="152400" marT="114300" marB="114300">
                    <a:solidFill>
                      <a:srgbClr val="FFFFFF"/>
                    </a:solidFill>
                  </a:tcPr>
                </a:tc>
              </a:tr>
            </a:tbl>
          </a:graphicData>
        </a:graphic>
      </p:graphicFrame>
    </p:spTree>
    <p:extLst>
      <p:ext uri="{BB962C8B-B14F-4D97-AF65-F5344CB8AC3E}">
        <p14:creationId xmlns:p14="http://schemas.microsoft.com/office/powerpoint/2010/main" val="931949077"/>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554A85-00F6-4F62-A8A0-CCB7AEF994F4}"/>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Appendix: attribution</a:t>
            </a:r>
          </a:p>
        </p:txBody>
      </p:sp>
      <p:sp>
        <p:nvSpPr>
          <p:cNvPr id="2" name="">
            <a:extLst xmlns:a="http://schemas.openxmlformats.org/drawingml/2006/main">
              <a:ext uri="{FF2B5EF4-FFF2-40B4-BE49-F238E27FC236}">
                <a16:creationId xmlns:a16="http://schemas.microsoft.com/office/drawing/2014/main" id="{E83F579A-53D7-4FF5-940B-1EEE4BABDE90}"/>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Separate weight changes from the rest of the product</a:t>
            </a:r>
          </a:p>
        </p:txBody>
      </p:sp>
      <p:sp>
        <p:nvSpPr>
          <p:cNvPr id="3" name="">
            <a:extLst xmlns:a="http://schemas.openxmlformats.org/drawingml/2006/main">
              <a:ext uri="{FF2B5EF4-FFF2-40B4-BE49-F238E27FC236}">
                <a16:creationId xmlns:a16="http://schemas.microsoft.com/office/drawing/2014/main" id="{8D7D1F68-6E84-41F0-9CF7-4FDB53D31C34}"/>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10</a:t>
            </a:r>
          </a:p>
        </p:txBody>
      </p:sp>
      <p:graphicFrame>
        <p:nvGraphicFramePr>
          <p:cNvPr id="9" name=""/>
          <p:cNvGraphicFramePr/>
          <p:nvPr/>
        </p:nvGraphicFramePr>
        <p:xfrm>
          <a:off xmlns:a="http://schemas.openxmlformats.org/drawingml/2006/main" x="685800" y="2238375"/>
          <a:ext xmlns:a="http://schemas.openxmlformats.org/drawingml/2006/main" cx="10820400" cy="3314700"/>
        </p:xfrm>
        <a:graphic xmlns:a="http://schemas.openxmlformats.org/drawingml/2006/main">
          <a:graphicData uri="http://schemas.openxmlformats.org/drawingml/2006/table">
            <a:tbl>
              <a:tblPr/>
              <a:tblGrid>
                <a:gridCol w="3238500"/>
                <a:gridCol w="3457575"/>
                <a:gridCol w="4124325"/>
              </a:tblGrid>
              <a:tr h="828675">
                <a:tc>
                  <a:txBody>
                    <a:bodyPr/>
                    <a:lstStyle/>
                    <a:p>
                      <a:r>
                        <a:rPr sz="1800" b="1">
                          <a:solidFill>
                            <a:srgbClr val="FFFFFF"/>
                          </a:solidFill>
                          <a:latin typeface="Helvetica Neue"/>
                          <a:ea typeface="Helvetica Neue"/>
                          <a:cs typeface="Helvetica Neue"/>
                        </a:rPr>
                        <a:t>Condition</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Hold fixed</a:t>
                      </a:r>
                    </a:p>
                  </a:txBody>
                  <a:tcPr marL="152400" marR="152400" marT="114300" marB="114300">
                    <a:solidFill>
                      <a:srgbClr val="173B36"/>
                    </a:solidFill>
                  </a:tcPr>
                </a:tc>
                <a:tc>
                  <a:txBody>
                    <a:bodyPr/>
                    <a:lstStyle/>
                    <a:p>
                      <a:r>
                        <a:rPr sz="1800" b="1">
                          <a:solidFill>
                            <a:srgbClr val="FFFFFF"/>
                          </a:solidFill>
                          <a:latin typeface="Helvetica Neue"/>
                          <a:ea typeface="Helvetica Neue"/>
                          <a:cs typeface="Helvetica Neue"/>
                        </a:rPr>
                        <a:t>What the comparison isolates</a:t>
                      </a:r>
                    </a:p>
                  </a:txBody>
                  <a:tcPr marL="152400" marR="152400" marT="114300" marB="114300">
                    <a:solidFill>
                      <a:srgbClr val="173B36"/>
                    </a:solidFill>
                  </a:tcPr>
                </a:tc>
              </a:tr>
              <a:tr h="828675">
                <a:tc>
                  <a:txBody>
                    <a:bodyPr/>
                    <a:lstStyle/>
                    <a:p>
                      <a:r>
                        <a:rPr sz="1875" b="0">
                          <a:solidFill>
                            <a:srgbClr val="173B36"/>
                          </a:solidFill>
                          <a:latin typeface="Helvetica Neue"/>
                          <a:ea typeface="Helvetica Neue"/>
                          <a:cs typeface="Helvetica Neue"/>
                        </a:rPr>
                        <a:t>A: unchanged Nemotron</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Rubric, extraction, prompt</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Baseline task performance</a:t>
                      </a:r>
                    </a:p>
                  </a:txBody>
                  <a:tcPr marL="152400" marR="152400" marT="114300" marB="114300">
                    <a:solidFill>
                      <a:srgbClr val="FFFFFF"/>
                    </a:solidFill>
                  </a:tcPr>
                </a:tc>
              </a:tr>
              <a:tr h="828675">
                <a:tc>
                  <a:txBody>
                    <a:bodyPr/>
                    <a:lstStyle/>
                    <a:p>
                      <a:r>
                        <a:rPr sz="1875" b="0">
                          <a:solidFill>
                            <a:srgbClr val="173B36"/>
                          </a:solidFill>
                          <a:latin typeface="Helvetica Neue"/>
                          <a:ea typeface="Helvetica Neue"/>
                          <a:cs typeface="Helvetica Neue"/>
                        </a:rPr>
                        <a:t>B: same model + adapter</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Same inputs and decoding</a:t>
                      </a:r>
                    </a:p>
                  </a:txBody>
                  <a:tcPr marL="152400" marR="152400" marT="114300" marB="114300">
                    <a:solidFill>
                      <a:srgbClr val="E8EEEA"/>
                    </a:solidFill>
                  </a:tcPr>
                </a:tc>
                <a:tc>
                  <a:txBody>
                    <a:bodyPr/>
                    <a:lstStyle/>
                    <a:p>
                      <a:r>
                        <a:rPr sz="1875" b="0">
                          <a:solidFill>
                            <a:srgbClr val="173B36"/>
                          </a:solidFill>
                          <a:latin typeface="Helvetica Neue"/>
                          <a:ea typeface="Helvetica Neue"/>
                          <a:cs typeface="Helvetica Neue"/>
                        </a:rPr>
                        <a:t>Effect of fine-tuning</a:t>
                      </a:r>
                    </a:p>
                  </a:txBody>
                  <a:tcPr marL="152400" marR="152400" marT="114300" marB="114300">
                    <a:solidFill>
                      <a:srgbClr val="E8EEEA"/>
                    </a:solidFill>
                  </a:tcPr>
                </a:tc>
              </a:tr>
              <a:tr h="828675">
                <a:tc>
                  <a:txBody>
                    <a:bodyPr/>
                    <a:lstStyle/>
                    <a:p>
                      <a:r>
                        <a:rPr sz="1875" b="0">
                          <a:solidFill>
                            <a:srgbClr val="173B36"/>
                          </a:solidFill>
                          <a:latin typeface="Helvetica Neue"/>
                          <a:ea typeface="Helvetica Neue"/>
                          <a:cs typeface="Helvetica Neue"/>
                        </a:rPr>
                        <a:t>C: B + output controls</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Same model output</a:t>
                      </a:r>
                    </a:p>
                  </a:txBody>
                  <a:tcPr marL="152400" marR="152400" marT="114300" marB="114300">
                    <a:solidFill>
                      <a:srgbClr val="FFFFFF"/>
                    </a:solidFill>
                  </a:tcPr>
                </a:tc>
                <a:tc>
                  <a:txBody>
                    <a:bodyPr/>
                    <a:lstStyle/>
                    <a:p>
                      <a:r>
                        <a:rPr sz="1875" b="0">
                          <a:solidFill>
                            <a:srgbClr val="173B36"/>
                          </a:solidFill>
                          <a:latin typeface="Helvetica Neue"/>
                          <a:ea typeface="Helvetica Neue"/>
                          <a:cs typeface="Helvetica Neue"/>
                        </a:rPr>
                        <a:t>Effect of software controls</a:t>
                      </a:r>
                    </a:p>
                  </a:txBody>
                  <a:tcPr marL="152400" marR="152400" marT="114300" marB="1143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89FD490-B373-4E33-AAFF-B3FD555A8ED0}"/>
              </a:ext>
            </a:extLst>
          </p:cNvPr>
          <p:cNvSpPr>
            <a:spLocks xmlns:a="http://schemas.openxmlformats.org/drawingml/2006/main" noGrp="1"/>
          </p:cNvSpPr>
          <p:nvPr/>
        </p:nvSpPr>
        <p:spPr>
          <a:xfrm xmlns:a="http://schemas.openxmlformats.org/drawingml/2006/main">
            <a:off x="685800" y="58102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5025"/>
                </a:solidFill>
                <a:latin typeface="Helvetica Neue"/>
                <a:ea typeface="Helvetica Neue"/>
                <a:cs typeface="Helvetica Neue"/>
              </a:defRPr>
            </a:pPr>
            <a:r>
              <a:rPr sz="1725" b="0">
                <a:solidFill>
                  <a:srgbClr val="A45025"/>
                </a:solidFill>
                <a:latin typeface="Helvetica Neue"/>
                <a:ea typeface="Helvetica Neue"/>
                <a:cs typeface="Helvetica Neue"/>
              </a:rPr>
              <a:t>Count rejected outputs and review referrals. Hiding more results can make an accuracy rate look better.</a:t>
            </a:r>
          </a:p>
        </p:txBody>
      </p:sp>
    </p:spTree>
    <p:extLst>
      <p:ext uri="{BB962C8B-B14F-4D97-AF65-F5344CB8AC3E}">
        <p14:creationId xmlns:p14="http://schemas.microsoft.com/office/powerpoint/2010/main" val="1561764666"/>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CE4DF5-FB54-4AFC-9B92-BF83E8432DC7}"/>
              </a:ext>
            </a:extLst>
          </p:cNvPr>
          <p:cNvSpPr>
            <a:spLocks xmlns:a="http://schemas.openxmlformats.org/drawingml/2006/main" noGrp="1"/>
          </p:cNvSpPr>
          <p:nvPr/>
        </p:nvSpPr>
        <p:spPr>
          <a:xfrm xmlns:a="http://schemas.openxmlformats.org/drawingml/2006/main">
            <a:off x="685800" y="514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B36"/>
                </a:solidFill>
                <a:latin typeface="Helvetica Neue"/>
                <a:ea typeface="Helvetica Neue"/>
                <a:cs typeface="Helvetica Neue"/>
              </a:defRPr>
            </a:pPr>
            <a:r>
              <a:rPr sz="3750" b="1">
                <a:solidFill>
                  <a:srgbClr val="173B36"/>
                </a:solidFill>
                <a:latin typeface="Helvetica Neue"/>
                <a:ea typeface="Helvetica Neue"/>
                <a:cs typeface="Helvetica Neue"/>
              </a:rPr>
              <a:t>Appendix: training record</a:t>
            </a:r>
          </a:p>
        </p:txBody>
      </p:sp>
      <p:sp>
        <p:nvSpPr>
          <p:cNvPr id="2" name="">
            <a:extLst xmlns:a="http://schemas.openxmlformats.org/drawingml/2006/main">
              <a:ext uri="{FF2B5EF4-FFF2-40B4-BE49-F238E27FC236}">
                <a16:creationId xmlns:a16="http://schemas.microsoft.com/office/drawing/2014/main" id="{777C9873-6B83-4439-B805-36ADE888624B}"/>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863"/>
                </a:solidFill>
                <a:latin typeface="Helvetica Neue"/>
                <a:ea typeface="Helvetica Neue"/>
                <a:cs typeface="Helvetica Neue"/>
              </a:defRPr>
            </a:pPr>
            <a:r>
              <a:rPr sz="1950" b="0">
                <a:solidFill>
                  <a:srgbClr val="5A6863"/>
                </a:solidFill>
                <a:latin typeface="Helvetica Neue"/>
                <a:ea typeface="Helvetica Neue"/>
                <a:cs typeface="Helvetica Neue"/>
              </a:rPr>
              <a:t>Record the actual run before presenting training claims</a:t>
            </a:r>
          </a:p>
        </p:txBody>
      </p:sp>
      <p:sp>
        <p:nvSpPr>
          <p:cNvPr id="3" name="">
            <a:extLst xmlns:a="http://schemas.openxmlformats.org/drawingml/2006/main">
              <a:ext uri="{FF2B5EF4-FFF2-40B4-BE49-F238E27FC236}">
                <a16:creationId xmlns:a16="http://schemas.microsoft.com/office/drawing/2014/main" id="{AD4FEB15-7F1A-4D7D-815D-1CD9F59F5152}"/>
              </a:ext>
            </a:extLst>
          </p:cNvPr>
          <p:cNvSpPr>
            <a:spLocks xmlns:a="http://schemas.openxmlformats.org/drawingml/2006/main" noGrp="1"/>
          </p:cNvSpPr>
          <p:nvPr/>
        </p:nvSpPr>
        <p:spPr>
          <a:xfrm xmlns:a="http://schemas.openxmlformats.org/drawingml/2006/main">
            <a:off x="11191875" y="62865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863"/>
                </a:solidFill>
                <a:latin typeface="Helvetica Neue"/>
                <a:ea typeface="Helvetica Neue"/>
                <a:cs typeface="Helvetica Neue"/>
              </a:defRPr>
            </a:pPr>
            <a:r>
              <a:rPr sz="1350" b="0">
                <a:solidFill>
                  <a:srgbClr val="5A6863"/>
                </a:solidFill>
                <a:latin typeface="Helvetica Neue"/>
                <a:ea typeface="Helvetica Neue"/>
                <a:cs typeface="Helvetica Neue"/>
              </a:rPr>
              <a:t>11</a:t>
            </a:r>
          </a:p>
        </p:txBody>
      </p:sp>
      <p:graphicFrame>
        <p:nvGraphicFramePr>
          <p:cNvPr id="8" name=""/>
          <p:cNvGraphicFramePr/>
          <p:nvPr/>
        </p:nvGraphicFramePr>
        <p:xfrm>
          <a:off xmlns:a="http://schemas.openxmlformats.org/drawingml/2006/main" x="685800" y="2114550"/>
          <a:ext xmlns:a="http://schemas.openxmlformats.org/drawingml/2006/main" cx="10820400" cy="3771900"/>
        </p:xfrm>
        <a:graphic xmlns:a="http://schemas.openxmlformats.org/drawingml/2006/main">
          <a:graphicData uri="http://schemas.openxmlformats.org/drawingml/2006/table">
            <a:tbl>
              <a:tblPr/>
              <a:tblGrid>
                <a:gridCol w="4095750"/>
                <a:gridCol w="6724650"/>
              </a:tblGrid>
              <a:tr h="628650">
                <a:tc>
                  <a:txBody>
                    <a:bodyPr/>
                    <a:lstStyle/>
                    <a:p>
                      <a:r>
                        <a:rPr sz="1725" b="1">
                          <a:solidFill>
                            <a:srgbClr val="FFFFFF"/>
                          </a:solidFill>
                          <a:latin typeface="Helvetica Neue"/>
                          <a:ea typeface="Helvetica Neue"/>
                          <a:cs typeface="Helvetica Neue"/>
                        </a:rPr>
                        <a:t>Record</a:t>
                      </a:r>
                    </a:p>
                  </a:txBody>
                  <a:tcPr marL="152400" marR="152400" marT="114300" marB="114300">
                    <a:solidFill>
                      <a:srgbClr val="173B36"/>
                    </a:solidFill>
                  </a:tcPr>
                </a:tc>
                <a:tc>
                  <a:txBody>
                    <a:bodyPr/>
                    <a:lstStyle/>
                    <a:p>
                      <a:r>
                        <a:rPr sz="1725" b="1">
                          <a:solidFill>
                            <a:srgbClr val="FFFFFF"/>
                          </a:solidFill>
                          <a:latin typeface="Helvetica Neue"/>
                          <a:ea typeface="Helvetica Neue"/>
                          <a:cs typeface="Helvetica Neue"/>
                        </a:rPr>
                        <a:t>Current status</a:t>
                      </a:r>
                    </a:p>
                  </a:txBody>
                  <a:tcPr marL="152400" marR="152400" marT="114300" marB="114300">
                    <a:solidFill>
                      <a:srgbClr val="173B36"/>
                    </a:solidFill>
                  </a:tcPr>
                </a:tc>
              </a:tr>
              <a:tr h="628650">
                <a:tc>
                  <a:txBody>
                    <a:bodyPr/>
                    <a:lstStyle/>
                    <a:p>
                      <a:r>
                        <a:rPr sz="1800" b="0">
                          <a:solidFill>
                            <a:srgbClr val="173B36"/>
                          </a:solidFill>
                          <a:latin typeface="Helvetica Neue"/>
                          <a:ea typeface="Helvetica Neue"/>
                          <a:cs typeface="Helvetica Neue"/>
                        </a:rPr>
                        <a:t>Checkpoint revision</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Unconfirmed candidate</a:t>
                      </a:r>
                    </a:p>
                  </a:txBody>
                  <a:tcPr marL="152400" marR="152400" marT="114300" marB="114300">
                    <a:solidFill>
                      <a:srgbClr val="FFFFFF"/>
                    </a:solidFill>
                  </a:tcPr>
                </a:tc>
              </a:tr>
              <a:tr h="628650">
                <a:tc>
                  <a:txBody>
                    <a:bodyPr/>
                    <a:lstStyle/>
                    <a:p>
                      <a:r>
                        <a:rPr sz="1800" b="0">
                          <a:solidFill>
                            <a:srgbClr val="173B36"/>
                          </a:solidFill>
                          <a:latin typeface="Helvetica Neue"/>
                          <a:ea typeface="Helvetica Neue"/>
                          <a:cs typeface="Helvetica Neue"/>
                        </a:rPr>
                        <a:t>Dataset and split</a:t>
                      </a:r>
                    </a:p>
                  </a:txBody>
                  <a:tcPr marL="152400" marR="152400" marT="114300" marB="114300">
                    <a:solidFill>
                      <a:srgbClr val="E8EEEA"/>
                    </a:solidFill>
                  </a:tcPr>
                </a:tc>
                <a:tc>
                  <a:txBody>
                    <a:bodyPr/>
                    <a:lstStyle/>
                    <a:p>
                      <a:r>
                        <a:rPr sz="1800" b="0">
                          <a:solidFill>
                            <a:srgbClr val="173B36"/>
                          </a:solidFill>
                          <a:latin typeface="Helvetica Neue"/>
                          <a:ea typeface="Helvetica Neue"/>
                          <a:cs typeface="Helvetica Neue"/>
                        </a:rPr>
                        <a:t>8 illustrations. Training corpus pending.</a:t>
                      </a:r>
                    </a:p>
                  </a:txBody>
                  <a:tcPr marL="152400" marR="152400" marT="114300" marB="114300">
                    <a:solidFill>
                      <a:srgbClr val="E8EEEA"/>
                    </a:solidFill>
                  </a:tcPr>
                </a:tc>
              </a:tr>
              <a:tr h="628650">
                <a:tc>
                  <a:txBody>
                    <a:bodyPr/>
                    <a:lstStyle/>
                    <a:p>
                      <a:r>
                        <a:rPr sz="1800" b="0">
                          <a:solidFill>
                            <a:srgbClr val="173B36"/>
                          </a:solidFill>
                          <a:latin typeface="Helvetica Neue"/>
                          <a:ea typeface="Helvetica Neue"/>
                          <a:cs typeface="Helvetica Neue"/>
                        </a:rPr>
                        <a:t>LoRA configuration</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Not selected</a:t>
                      </a:r>
                    </a:p>
                  </a:txBody>
                  <a:tcPr marL="152400" marR="152400" marT="114300" marB="114300">
                    <a:solidFill>
                      <a:srgbClr val="FFFFFF"/>
                    </a:solidFill>
                  </a:tcPr>
                </a:tc>
              </a:tr>
              <a:tr h="628650">
                <a:tc>
                  <a:txBody>
                    <a:bodyPr/>
                    <a:lstStyle/>
                    <a:p>
                      <a:r>
                        <a:rPr sz="1800" b="0">
                          <a:solidFill>
                            <a:srgbClr val="173B36"/>
                          </a:solidFill>
                          <a:latin typeface="Helvetica Neue"/>
                          <a:ea typeface="Helvetica Neue"/>
                          <a:cs typeface="Helvetica Neue"/>
                        </a:rPr>
                        <a:t>Compute and runtime</a:t>
                      </a:r>
                    </a:p>
                  </a:txBody>
                  <a:tcPr marL="152400" marR="152400" marT="114300" marB="114300">
                    <a:solidFill>
                      <a:srgbClr val="E8EEEA"/>
                    </a:solidFill>
                  </a:tcPr>
                </a:tc>
                <a:tc>
                  <a:txBody>
                    <a:bodyPr/>
                    <a:lstStyle/>
                    <a:p>
                      <a:r>
                        <a:rPr sz="1800" b="0">
                          <a:solidFill>
                            <a:srgbClr val="173B36"/>
                          </a:solidFill>
                          <a:latin typeface="Helvetica Neue"/>
                          <a:ea typeface="Helvetica Neue"/>
                          <a:cs typeface="Helvetica Neue"/>
                        </a:rPr>
                        <a:t>No verified training run</a:t>
                      </a:r>
                    </a:p>
                  </a:txBody>
                  <a:tcPr marL="152400" marR="152400" marT="114300" marB="114300">
                    <a:solidFill>
                      <a:srgbClr val="E8EEEA"/>
                    </a:solidFill>
                  </a:tcPr>
                </a:tc>
              </a:tr>
              <a:tr h="628650">
                <a:tc>
                  <a:txBody>
                    <a:bodyPr/>
                    <a:lstStyle/>
                    <a:p>
                      <a:r>
                        <a:rPr sz="1800" b="0">
                          <a:solidFill>
                            <a:srgbClr val="173B36"/>
                          </a:solidFill>
                          <a:latin typeface="Helvetica Neue"/>
                          <a:ea typeface="Helvetica Neue"/>
                          <a:cs typeface="Helvetica Neue"/>
                        </a:rPr>
                        <a:t>Adapter and results</a:t>
                      </a:r>
                    </a:p>
                  </a:txBody>
                  <a:tcPr marL="152400" marR="152400" marT="114300" marB="114300">
                    <a:solidFill>
                      <a:srgbClr val="FFFFFF"/>
                    </a:solidFill>
                  </a:tcPr>
                </a:tc>
                <a:tc>
                  <a:txBody>
                    <a:bodyPr/>
                    <a:lstStyle/>
                    <a:p>
                      <a:r>
                        <a:rPr sz="1800" b="0">
                          <a:solidFill>
                            <a:srgbClr val="173B36"/>
                          </a:solidFill>
                          <a:latin typeface="Helvetica Neue"/>
                          <a:ea typeface="Helvetica Neue"/>
                          <a:cs typeface="Helvetica Neue"/>
                        </a:rPr>
                        <a:t>Not available</a:t>
                      </a:r>
                    </a:p>
                  </a:txBody>
                  <a:tcPr marL="152400" marR="152400" marT="114300" marB="114300">
                    <a:solidFill>
                      <a:srgbClr val="FFFFFF"/>
                    </a:solidFill>
                  </a:tcPr>
                </a:tc>
              </a:tr>
            </a:tbl>
          </a:graphicData>
        </a:graphic>
      </p:graphicFrame>
    </p:spTree>
    <p:extLst>
      <p:ext uri="{BB962C8B-B14F-4D97-AF65-F5344CB8AC3E}">
        <p14:creationId xmlns:p14="http://schemas.microsoft.com/office/powerpoint/2010/main" val="2123680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2026-09-19T19:19:13.8430000Z</dcterms:created>
  <dcterms:modified xsi:type="dcterms:W3CDTF">2026-09-19T19:19:13.8430000Z</dcterms:modified>
</coreProperties>
</file>